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343D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27491" y="0"/>
            <a:ext cx="5364361" cy="6858000"/>
          </a:xfrm>
          <a:prstGeom prst="rect">
            <a:avLst/>
          </a:prstGeom>
          <a:solidFill>
            <a:srgbClr val="1C242B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27491" y="6076950"/>
            <a:ext cx="5364361" cy="781050"/>
          </a:xfrm>
          <a:prstGeom prst="rect">
            <a:avLst/>
          </a:prstGeom>
          <a:solidFill>
            <a:srgbClr val="28323B">
              <a:alpha val="93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4478685"/>
            <a:ext cx="5608290" cy="678656"/>
          </a:xfrm>
          <a:prstGeom prst="rect">
            <a:avLst/>
          </a:prstGeom>
          <a:solidFill>
            <a:srgbClr val="000000">
              <a:alpha val="0"/>
            </a:srgbClr>
          </a:solidFill>
          <a:ln w="31750">
            <a:solidFill>
              <a:srgbClr val="F6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786235"/>
            <a:ext cx="4002435" cy="371773"/>
          </a:xfrm>
          <a:prstGeom prst="rect">
            <a:avLst/>
          </a:prstGeom>
          <a:solidFill>
            <a:srgbClr val="B59B73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pic>
        <p:nvPicPr>
          <p:cNvPr id="7" name="Image 0" descr="Niemieckie wojska zimą na froncie wschodni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27491" y="0"/>
            <a:ext cx="5364361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3425" y="1862816"/>
            <a:ext cx="3827937" cy="2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 WOJNA ŚWIATOWA · 1941–1943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9600" y="2301264"/>
            <a:ext cx="5660309" cy="7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Wojna III Rzeszy z</a:t>
            </a:r>
            <a:endParaRPr lang="en-US" sz="4575" dirty="0"/>
          </a:p>
        </p:txBody>
      </p:sp>
      <p:sp>
        <p:nvSpPr>
          <p:cNvPr id="10" name="Text 7"/>
          <p:cNvSpPr/>
          <p:nvPr/>
        </p:nvSpPr>
        <p:spPr>
          <a:xfrm>
            <a:off x="609600" y="2870531"/>
            <a:ext cx="1811167" cy="798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ZSRR</a:t>
            </a:r>
            <a:endParaRPr lang="en-US" sz="4575" dirty="0"/>
          </a:p>
        </p:txBody>
      </p:sp>
      <p:sp>
        <p:nvSpPr>
          <p:cNvPr id="11" name="Text 8"/>
          <p:cNvSpPr/>
          <p:nvPr/>
        </p:nvSpPr>
        <p:spPr>
          <a:xfrm>
            <a:off x="609600" y="3820501"/>
            <a:ext cx="4214741" cy="370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C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wschodni 1941–1943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66775" y="4488591"/>
            <a:ext cx="4873752" cy="34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6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Dlaczego plan szybkiego zwycięstwa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866775" y="4827920"/>
            <a:ext cx="4702302" cy="34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6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zamienił się w wojnę wyniszczenia?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7017991" y="6220207"/>
            <a:ext cx="455942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Wojska niemieckie zimą na froncie wschodnim.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17991" y="6467856"/>
            <a:ext cx="15209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Fotografia ZPE.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5DC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922538"/>
            <a:ext cx="3638550" cy="2952750"/>
          </a:xfrm>
          <a:prstGeom prst="rect">
            <a:avLst/>
          </a:prstGeom>
          <a:solidFill>
            <a:srgbClr val="FFFFFF">
              <a:alpha val="48000"/>
            </a:srgbClr>
          </a:solidFill>
          <a:ln w="57150">
            <a:solidFill>
              <a:srgbClr val="8741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43850" y="2922538"/>
            <a:ext cx="3638550" cy="2952750"/>
          </a:xfrm>
          <a:prstGeom prst="rect">
            <a:avLst/>
          </a:prstGeom>
          <a:solidFill>
            <a:srgbClr val="FFFFFF">
              <a:alpha val="48000"/>
            </a:srgbClr>
          </a:solidFill>
          <a:ln w="57150">
            <a:solidFill>
              <a:srgbClr val="5977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6725" y="2760613"/>
            <a:ext cx="3638549" cy="2952750"/>
          </a:xfrm>
          <a:prstGeom prst="rect">
            <a:avLst/>
          </a:prstGeom>
          <a:solidFill>
            <a:srgbClr val="30343D"/>
          </a:solidFill>
          <a:ln w="57150">
            <a:solidFill>
              <a:srgbClr val="B59B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481435"/>
            <a:ext cx="6432352" cy="1002953"/>
          </a:xfrm>
          <a:prstGeom prst="rect">
            <a:avLst/>
          </a:prstGeom>
          <a:solidFill>
            <a:srgbClr val="FFFDF9"/>
          </a:solidFill>
          <a:ln w="63500">
            <a:solidFill>
              <a:srgbClr val="3034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09956"/>
            <a:ext cx="4687568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czerwca 1941 r.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33450" y="1653266"/>
            <a:ext cx="5953054" cy="753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75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Operacja „Barbarossa”</a:t>
            </a:r>
            <a:endParaRPr lang="en-US" sz="4575" dirty="0"/>
          </a:p>
        </p:txBody>
      </p:sp>
      <p:sp>
        <p:nvSpPr>
          <p:cNvPr id="9" name="Text 7"/>
          <p:cNvSpPr/>
          <p:nvPr/>
        </p:nvSpPr>
        <p:spPr>
          <a:xfrm>
            <a:off x="4524375" y="3122944"/>
            <a:ext cx="233429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krótka kampania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250" y="3284869"/>
            <a:ext cx="184286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złamany pakt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91500" y="3284869"/>
            <a:ext cx="1989761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ogromna skala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4375" y="3747725"/>
            <a:ext cx="26925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zwycięstwa przed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250" y="3909650"/>
            <a:ext cx="23686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Niemcy uderzają na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91500" y="3909650"/>
            <a:ext cx="3035428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od Bałtyku po Morze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4375" y="4040320"/>
            <a:ext cx="625602" cy="31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zimą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7250" y="4202246"/>
            <a:ext cx="31878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dotychczasowego partnera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1500" y="4202246"/>
            <a:ext cx="8827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Czarne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5DC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0" y="1386185"/>
            <a:ext cx="5486400" cy="4124326"/>
          </a:xfrm>
          <a:prstGeom prst="rect">
            <a:avLst/>
          </a:prstGeom>
          <a:solidFill>
            <a:srgbClr val="E7DED0"/>
          </a:solidFill>
          <a:ln w="63500">
            <a:solidFill>
              <a:srgbClr val="303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386185"/>
            <a:ext cx="5486400" cy="4124326"/>
          </a:xfrm>
          <a:prstGeom prst="rect">
            <a:avLst/>
          </a:prstGeom>
          <a:solidFill>
            <a:srgbClr val="FFFDF9"/>
          </a:solidFill>
          <a:ln w="63500">
            <a:solidFill>
              <a:srgbClr val="3034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7237" y="5777211"/>
            <a:ext cx="10677525" cy="647700"/>
          </a:xfrm>
          <a:prstGeom prst="rect">
            <a:avLst/>
          </a:prstGeom>
          <a:solidFill>
            <a:srgbClr val="30343D"/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409956"/>
            <a:ext cx="721645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 militarne i ideologiczne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76325" y="1729466"/>
            <a:ext cx="1579293" cy="483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Militarne</a:t>
            </a:r>
            <a:endParaRPr lang="en-US" sz="2925" dirty="0"/>
          </a:p>
        </p:txBody>
      </p:sp>
      <p:sp>
        <p:nvSpPr>
          <p:cNvPr id="8" name="Text 6"/>
          <p:cNvSpPr/>
          <p:nvPr/>
        </p:nvSpPr>
        <p:spPr>
          <a:xfrm>
            <a:off x="6562725" y="1729466"/>
            <a:ext cx="2054054" cy="483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25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Ideologiczne</a:t>
            </a:r>
            <a:endParaRPr lang="en-US" sz="2925" dirty="0"/>
          </a:p>
        </p:txBody>
      </p:sp>
      <p:sp>
        <p:nvSpPr>
          <p:cNvPr id="9" name="Text 7"/>
          <p:cNvSpPr/>
          <p:nvPr/>
        </p:nvSpPr>
        <p:spPr>
          <a:xfrm>
            <a:off x="1800225" y="2574215"/>
            <a:ext cx="340690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zniszczyć główne siły Armii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286625" y="2574215"/>
            <a:ext cx="25782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zniszczyć komunizm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800225" y="2883777"/>
            <a:ext cx="13590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Czerwonej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286625" y="3036177"/>
            <a:ext cx="366407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zdobyć „przestrzeń życiową”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800225" y="3345740"/>
            <a:ext cx="32259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zdobyć kluczowe miasta 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286625" y="3498140"/>
            <a:ext cx="3787901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podporządkować i wyniszczać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800225" y="3655302"/>
            <a:ext cx="10923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surowce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286625" y="3807702"/>
            <a:ext cx="3445002" cy="337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ludność uznaną za „niższą”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800225" y="4117265"/>
            <a:ext cx="328307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uniemożliwić ZSRR dalszą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800225" y="4426828"/>
            <a:ext cx="7875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walkę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90613" y="5949041"/>
            <a:ext cx="799795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od początku miała być także wojna rasowa i kolonialna.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5DC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457200"/>
            <a:ext cx="10972800" cy="786110"/>
          </a:xfrm>
          <a:prstGeom prst="rect">
            <a:avLst/>
          </a:prstGeom>
          <a:solidFill>
            <a:srgbClr val="30343D"/>
          </a:solidFill>
          <a:ln w="127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29425" y="2709267"/>
            <a:ext cx="4667250" cy="1104900"/>
          </a:xfrm>
          <a:prstGeom prst="rect">
            <a:avLst/>
          </a:prstGeom>
          <a:solidFill>
            <a:srgbClr val="FFFDF9"/>
          </a:solidFill>
          <a:ln w="57150">
            <a:solidFill>
              <a:srgbClr val="3034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29425" y="3842742"/>
            <a:ext cx="4667250" cy="1104900"/>
          </a:xfrm>
          <a:prstGeom prst="rect">
            <a:avLst/>
          </a:prstGeom>
          <a:solidFill>
            <a:srgbClr val="E6DDD1"/>
          </a:solidFill>
          <a:ln w="57150">
            <a:solidFill>
              <a:srgbClr val="3034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29425" y="4976218"/>
            <a:ext cx="4667250" cy="1104900"/>
          </a:xfrm>
          <a:prstGeom prst="rect">
            <a:avLst/>
          </a:prstGeom>
          <a:solidFill>
            <a:srgbClr val="FFFDF9"/>
          </a:solidFill>
          <a:ln w="57150">
            <a:solidFill>
              <a:srgbClr val="3034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29425" y="1685925"/>
            <a:ext cx="4667250" cy="832842"/>
          </a:xfrm>
          <a:prstGeom prst="rect">
            <a:avLst/>
          </a:prstGeom>
          <a:solidFill>
            <a:srgbClr val="FFFDF9"/>
          </a:solidFill>
          <a:ln w="50800">
            <a:solidFill>
              <a:srgbClr val="3034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3425" y="6343650"/>
            <a:ext cx="4762500" cy="489347"/>
          </a:xfrm>
          <a:prstGeom prst="rect">
            <a:avLst/>
          </a:prstGeom>
          <a:solidFill>
            <a:srgbClr val="FFFDF9">
              <a:alpha val="82000"/>
            </a:srgbClr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pic>
        <p:nvPicPr>
          <p:cNvPr id="9" name="Image 0" descr="Mapa działań wojennych na froncie wschodnim podczas II wojny światowej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3425" y="1704975"/>
            <a:ext cx="4524375" cy="4381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050" y="505206"/>
            <a:ext cx="5999042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Trzy kierunki uderzenia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077075" y="1810131"/>
            <a:ext cx="33116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Odczytaj mapę przez trzy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77075" y="2102727"/>
            <a:ext cx="23401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kierunki natarcia: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915274" y="2881098"/>
            <a:ext cx="87116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Północ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7915274" y="3268647"/>
            <a:ext cx="112090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Leningrad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915274" y="4014573"/>
            <a:ext cx="912394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Środek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7915274" y="4402122"/>
            <a:ext cx="901828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Moskwa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915274" y="5148048"/>
            <a:ext cx="1117033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Południe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7915274" y="5535597"/>
            <a:ext cx="8732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Ukraina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09625" y="6372606"/>
            <a:ext cx="4597527" cy="2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syntetyczna frontu wschodniego. ZPE, Krystian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09625" y="6569654"/>
            <a:ext cx="2416302" cy="23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Chariza i zespół, CC BY 3.0.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343D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47775" y="4653706"/>
            <a:ext cx="9696451" cy="676276"/>
          </a:xfrm>
          <a:prstGeom prst="rect">
            <a:avLst/>
          </a:prstGeom>
          <a:solidFill>
            <a:srgbClr val="FFFDF9"/>
          </a:solidFill>
          <a:ln w="31750">
            <a:solidFill>
              <a:srgbClr val="8741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457200"/>
            <a:ext cx="7293173" cy="786110"/>
          </a:xfrm>
          <a:prstGeom prst="rect">
            <a:avLst/>
          </a:prstGeom>
          <a:solidFill>
            <a:srgbClr val="FFFDF9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050" y="505206"/>
            <a:ext cx="702342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Sukcesy bez rozstrzygnięcia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76300" y="1948541"/>
            <a:ext cx="13304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lato 1941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533900" y="1948541"/>
            <a:ext cx="161620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jesień 1941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191500" y="1948541"/>
            <a:ext cx="14447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zima 1941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76300" y="2943904"/>
            <a:ext cx="170192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okrążenia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4533900" y="2943904"/>
            <a:ext cx="18448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długi front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8191500" y="2943904"/>
            <a:ext cx="28354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zwycięstwa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876300" y="3413456"/>
            <a:ext cx="23782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6E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ogromne straty Armii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4533900" y="3413456"/>
            <a:ext cx="30925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6E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wydłużone dostawy, straty,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8191500" y="3413456"/>
            <a:ext cx="30259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6E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Moskwa niezdobyta; wojna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876300" y="3687300"/>
            <a:ext cx="27592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6E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Czerwonej i setki tysięcy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4533900" y="3687300"/>
            <a:ext cx="30068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6E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opór i nowe oddziały ZSRR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8191500" y="3687300"/>
            <a:ext cx="1149478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6E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trwa dalej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300" y="3961144"/>
            <a:ext cx="84467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6E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jeńców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2700338" y="4863638"/>
            <a:ext cx="31592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Pogoda pogłębiała kryzys.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5862638" y="4863638"/>
            <a:ext cx="37021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9A24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była jedyną przyczyną.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5DC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" y="1338560"/>
            <a:ext cx="10668000" cy="1588592"/>
          </a:xfrm>
          <a:prstGeom prst="rect">
            <a:avLst/>
          </a:prstGeom>
          <a:solidFill>
            <a:srgbClr val="FFFDF9"/>
          </a:solidFill>
          <a:ln w="63500">
            <a:solidFill>
              <a:srgbClr val="303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779639"/>
            <a:ext cx="10668000" cy="1588592"/>
          </a:xfrm>
          <a:prstGeom prst="rect">
            <a:avLst/>
          </a:prstGeom>
          <a:solidFill>
            <a:srgbClr val="E7DED0"/>
          </a:solidFill>
          <a:ln w="63500">
            <a:solidFill>
              <a:srgbClr val="3034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409956"/>
            <a:ext cx="704113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„Wielka Wojna Ojczyźniana”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90625" y="1767566"/>
            <a:ext cx="517855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A24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Sowieckie i rosyjskie określenie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391275" y="1767566"/>
            <a:ext cx="4235578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wojny ZSRR z Niemcami i ich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90625" y="2133237"/>
            <a:ext cx="319735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sojusznikami w latach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410075" y="2133237"/>
            <a:ext cx="1816227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A24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1941–1945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153150" y="2133237"/>
            <a:ext cx="16840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09600" y="2965633"/>
            <a:ext cx="376464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8741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1190625" y="4208645"/>
            <a:ext cx="9674353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oznacza całej II wojny światowej. Nie obejmuje m.in. sowieckiej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90625" y="4574316"/>
            <a:ext cx="535000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agresji na Polskę 17 września 1939 r.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DACB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625" y="1849041"/>
            <a:ext cx="10572750" cy="2358033"/>
          </a:xfrm>
          <a:prstGeom prst="rect">
            <a:avLst/>
          </a:prstGeom>
          <a:solidFill>
            <a:srgbClr val="FFFDF9"/>
          </a:solidFill>
          <a:ln w="76200">
            <a:solidFill>
              <a:srgbClr val="303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457200"/>
            <a:ext cx="10972800" cy="786110"/>
          </a:xfrm>
          <a:prstGeom prst="rect">
            <a:avLst/>
          </a:prstGeom>
          <a:solidFill>
            <a:srgbClr val="30343D"/>
          </a:solidFill>
          <a:ln w="127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05050" y="5767388"/>
            <a:ext cx="7581900" cy="633413"/>
          </a:xfrm>
          <a:prstGeom prst="rect">
            <a:avLst/>
          </a:prstGeom>
          <a:solidFill>
            <a:srgbClr val="30343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50" y="505206"/>
            <a:ext cx="679482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Źródło A: co zakładał plan?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00175" y="2230422"/>
            <a:ext cx="8913989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„Niemieckie siły zbrojne muszą być przygotowane do pokonania Rosji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400175" y="2638955"/>
            <a:ext cx="1740474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radzieckiej w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3146078" y="2638955"/>
            <a:ext cx="310329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i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krótkotrwałej kampanii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6254800" y="2638955"/>
            <a:ext cx="429406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[…]. Gros […] sił rosyjskich […]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400175" y="3047488"/>
            <a:ext cx="8908929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powinno zostać zniszczone w wyniku […] głębokiego manewru klinów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1400175" y="3456021"/>
            <a:ext cx="1792861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pancernych”.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2686050" y="4359855"/>
            <a:ext cx="689305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76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Dyrektywa nr 21, 18 XII 1940; przekład przytoczony w e‑materiale ZPE.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19375" y="5929693"/>
            <a:ext cx="7102603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Jakie dwa założenia planu widać w tym fragmencie?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343D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405235"/>
            <a:ext cx="5472113" cy="2190750"/>
          </a:xfrm>
          <a:prstGeom prst="rect">
            <a:avLst/>
          </a:prstGeom>
          <a:solidFill>
            <a:srgbClr val="FFFFFF">
              <a:alpha val="7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10288" y="1405235"/>
            <a:ext cx="5472113" cy="2190750"/>
          </a:xfrm>
          <a:prstGeom prst="rect">
            <a:avLst/>
          </a:prstGeom>
          <a:solidFill>
            <a:srgbClr val="FFFFFF">
              <a:alpha val="7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3624560"/>
            <a:ext cx="5472113" cy="2190750"/>
          </a:xfrm>
          <a:prstGeom prst="rect">
            <a:avLst/>
          </a:prstGeom>
          <a:solidFill>
            <a:srgbClr val="FFFFFF">
              <a:alpha val="7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0288" y="3624560"/>
            <a:ext cx="5472113" cy="2190750"/>
          </a:xfrm>
          <a:prstGeom prst="rect">
            <a:avLst/>
          </a:prstGeom>
          <a:solidFill>
            <a:srgbClr val="FFFFFF">
              <a:alpha val="7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09956"/>
            <a:ext cx="4963793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Wojna wyniszczenia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2025" y="1662791"/>
            <a:ext cx="160667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ideologia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6462712" y="1662791"/>
            <a:ext cx="156857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okupacja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62025" y="2151394"/>
            <a:ext cx="39403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rasizm, antykomunizm, „przestrzeń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6462712" y="2151394"/>
            <a:ext cx="37021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terror, grabież i celowe głodzenie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962025" y="2423005"/>
            <a:ext cx="10637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życiowa”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962025" y="3882116"/>
            <a:ext cx="257822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masowe mordy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6462712" y="3882116"/>
            <a:ext cx="94945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jeńcy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62025" y="4370719"/>
            <a:ext cx="438797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Einsatzgruppen i inne formacje zabijały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462712" y="4370719"/>
            <a:ext cx="4473703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systemowe zaniedbanie, głód, choroby i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962025" y="4642330"/>
            <a:ext cx="316877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Żydów oraz ludność cywilną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462712" y="4642330"/>
            <a:ext cx="116852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egzekucje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5DC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15520" y="1410891"/>
            <a:ext cx="6466880" cy="5297686"/>
          </a:xfrm>
          <a:prstGeom prst="rect">
            <a:avLst/>
          </a:prstGeom>
          <a:solidFill>
            <a:srgbClr val="FFFFFF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3513237"/>
            <a:ext cx="4134446" cy="1633240"/>
          </a:xfrm>
          <a:prstGeom prst="rect">
            <a:avLst/>
          </a:prstGeom>
          <a:solidFill>
            <a:srgbClr val="E7DED0"/>
          </a:solidFill>
          <a:ln w="57150">
            <a:solidFill>
              <a:srgbClr val="3034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1727597"/>
            <a:ext cx="4134446" cy="1633240"/>
          </a:xfrm>
          <a:prstGeom prst="rect">
            <a:avLst/>
          </a:prstGeom>
          <a:solidFill>
            <a:srgbClr val="FFFDF9"/>
          </a:solidFill>
          <a:ln w="57150">
            <a:solidFill>
              <a:srgbClr val="30343D"/>
            </a:solidFill>
            <a:prstDash val="solid"/>
          </a:ln>
        </p:spPr>
      </p:sp>
      <p:pic>
        <p:nvPicPr>
          <p:cNvPr id="6" name="Image 0" descr="Kolumna nieuzbrojonych jeńców sowieckich eskortowanych przez niemieckich żołnierz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29820" y="1715691"/>
            <a:ext cx="5926336" cy="423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600" y="409956"/>
            <a:ext cx="5662988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jeńców sowieckich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52500" y="1975628"/>
            <a:ext cx="2232648" cy="595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ok. 5,7 mln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952500" y="2598920"/>
            <a:ext cx="31306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żołnierzy Armii Czerwonej w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952500" y="2870531"/>
            <a:ext cx="21305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niemieckiej niewoli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952500" y="3761268"/>
            <a:ext cx="2232648" cy="595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ok. 3,3 mln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52500" y="4384560"/>
            <a:ext cx="3368802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zmarłych lub zamordowanych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952500" y="4656171"/>
            <a:ext cx="177812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końca wojny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647700" y="5470708"/>
            <a:ext cx="35497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podpisu ZSRR pod konwencją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647700" y="5720739"/>
            <a:ext cx="41212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genewską nie dawał Niemcom prawa do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647700" y="5970770"/>
            <a:ext cx="35307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mordowania ani głodzenia jeńców.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5229820" y="6126146"/>
            <a:ext cx="618820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76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Jeńcy sowieccy po ataku Niemiec. Autor nieznany, CC BY-SA 3.0,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29820" y="6350877"/>
            <a:ext cx="29973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76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 ZPE. Zdjęcie niedrastyczne.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5DC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452860"/>
            <a:ext cx="5467350" cy="3609975"/>
          </a:xfrm>
          <a:prstGeom prst="rect">
            <a:avLst/>
          </a:prstGeom>
          <a:solidFill>
            <a:srgbClr val="FFFDF9"/>
          </a:solidFill>
          <a:ln w="57150">
            <a:solidFill>
              <a:srgbClr val="5977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15050" y="1452860"/>
            <a:ext cx="5467350" cy="3609975"/>
          </a:xfrm>
          <a:prstGeom prst="rect">
            <a:avLst/>
          </a:prstGeom>
          <a:solidFill>
            <a:srgbClr val="30343D"/>
          </a:solidFill>
          <a:ln w="57150">
            <a:solidFill>
              <a:srgbClr val="8741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075" y="5339060"/>
            <a:ext cx="9467850" cy="628651"/>
          </a:xfrm>
          <a:prstGeom prst="rect">
            <a:avLst/>
          </a:prstGeom>
          <a:solidFill>
            <a:srgbClr val="DDD2C1"/>
          </a:solidFill>
          <a:ln w="50800">
            <a:solidFill>
              <a:srgbClr val="303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409956"/>
            <a:ext cx="932922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Moskwa: koniec planu szybkiej wojny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925" y="1872341"/>
            <a:ext cx="161620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87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jesień 1941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429375" y="1872341"/>
            <a:ext cx="210197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grudnia 1941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23925" y="2372404"/>
            <a:ext cx="2830640" cy="46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operacja „Tajfun”</a:t>
            </a:r>
            <a:endParaRPr lang="en-US" sz="2775" dirty="0"/>
          </a:p>
        </p:txBody>
      </p:sp>
      <p:sp>
        <p:nvSpPr>
          <p:cNvPr id="10" name="Text 8"/>
          <p:cNvSpPr/>
          <p:nvPr/>
        </p:nvSpPr>
        <p:spPr>
          <a:xfrm>
            <a:off x="6429375" y="2372404"/>
            <a:ext cx="3737896" cy="46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sowiecka kontrofensywa</a:t>
            </a:r>
            <a:endParaRPr lang="en-US" sz="2775" dirty="0"/>
          </a:p>
        </p:txBody>
      </p:sp>
      <p:sp>
        <p:nvSpPr>
          <p:cNvPr id="11" name="Text 9"/>
          <p:cNvSpPr/>
          <p:nvPr/>
        </p:nvSpPr>
        <p:spPr>
          <a:xfrm>
            <a:off x="923925" y="2982897"/>
            <a:ext cx="480707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Niemcy próbują zdobyć stolicę i rozbić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29375" y="2982897"/>
            <a:ext cx="472135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Niemcy zostają odrzuceni od Moskwy.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23925" y="3299752"/>
            <a:ext cx="354025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siły na kierunku centralnym.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29375" y="3299752"/>
            <a:ext cx="415937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Wojna nie kończy się przed zimą.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781300" y="5501367"/>
            <a:ext cx="67787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Znaczenie: załamanie planu zwycięstwa w 1941 r.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74153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28725" y="2478881"/>
            <a:ext cx="9734550" cy="2283172"/>
          </a:xfrm>
          <a:prstGeom prst="rect">
            <a:avLst/>
          </a:prstGeom>
          <a:solidFill>
            <a:srgbClr val="FFFDF9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088315"/>
            <a:ext cx="7409336" cy="696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Dlaczego plan się załamał?</a:t>
            </a:r>
            <a:endParaRPr lang="en-US" sz="3975" dirty="0"/>
          </a:p>
        </p:txBody>
      </p:sp>
      <p:sp>
        <p:nvSpPr>
          <p:cNvPr id="5" name="Text 3"/>
          <p:cNvSpPr/>
          <p:nvPr/>
        </p:nvSpPr>
        <p:spPr>
          <a:xfrm>
            <a:off x="2990850" y="2765012"/>
            <a:ext cx="5388102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74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Pracujcie w parach. Macie 6 minut.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00450" y="3307044"/>
            <a:ext cx="70549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Wybierzcie co najmniej cztery czynniki z banku w zadaniu 3.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00450" y="3700100"/>
            <a:ext cx="50166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Połączcie je strzałkami w logiczny łańcuch.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00450" y="4093154"/>
            <a:ext cx="6483477" cy="31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Podkreślcie najważniejszy czynnik i uzasadnijcie wybór.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81450" y="5251930"/>
            <a:ext cx="43022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Samo hasło „zima” nie wystarczy.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CEC0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09956"/>
            <a:ext cx="7606981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Stalingrad: armia w okrążeniu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76300" y="1586591"/>
            <a:ext cx="165430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VIII 1942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4533900" y="1586591"/>
            <a:ext cx="148285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XI 1942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8191500" y="1586591"/>
            <a:ext cx="1225678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9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II 1943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876300" y="2581954"/>
            <a:ext cx="24925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walki o miasto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4533900" y="2581954"/>
            <a:ext cx="277825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operacja „Uran”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8191500" y="2581954"/>
            <a:ext cx="19210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kapitulacja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876300" y="3051507"/>
            <a:ext cx="27592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ciężkie walki uliczne nad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4533900" y="3051507"/>
            <a:ext cx="238772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uderzenie na słabsze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8191500" y="3051507"/>
            <a:ext cx="26639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wielka klęska militarna i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876300" y="3325350"/>
            <a:ext cx="7589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Wołgą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4533900" y="3325350"/>
            <a:ext cx="31402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skrzydła i okrążenie 6. Armii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8191500" y="3325350"/>
            <a:ext cx="27115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psychologiczna Niemiec</a:t>
            </a:r>
            <a:endParaRPr lang="en-US" sz="17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DACB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625" y="1849041"/>
            <a:ext cx="10572750" cy="1875383"/>
          </a:xfrm>
          <a:prstGeom prst="rect">
            <a:avLst/>
          </a:prstGeom>
          <a:solidFill>
            <a:srgbClr val="FFFDF9"/>
          </a:solidFill>
          <a:ln w="76200">
            <a:solidFill>
              <a:srgbClr val="303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2525" y="5457825"/>
            <a:ext cx="9886951" cy="942975"/>
          </a:xfrm>
          <a:prstGeom prst="rect">
            <a:avLst/>
          </a:prstGeom>
          <a:solidFill>
            <a:srgbClr val="30343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457200"/>
            <a:ext cx="10972800" cy="786110"/>
          </a:xfrm>
          <a:prstGeom prst="rect">
            <a:avLst/>
          </a:prstGeom>
          <a:solidFill>
            <a:srgbClr val="30343D"/>
          </a:solidFill>
          <a:ln w="127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50" y="505206"/>
            <a:ext cx="954963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Źródło B: informacja czy propaganda?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00175" y="2220897"/>
            <a:ext cx="9113568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„Wojska Frontu Dońskiego w bojach z 27–31 stycznia zakończyły likwidację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400175" y="2604725"/>
            <a:ext cx="9011621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grupy wojsk niemiecko‑faszystowskich, otoczonych na zachód od centralnej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400175" y="2988552"/>
            <a:ext cx="2484614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i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części Stalingradu”.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638300" y="3877205"/>
            <a:ext cx="89885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76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Komunikat radzieckiego Biura Informacji, 31 I 1943; przekład przytoczony w e‑materiale ZPE.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6850" y="5620131"/>
            <a:ext cx="8017003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komunikat informuje — i jakie słowo zdradza jego język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66850" y="5929693"/>
            <a:ext cx="220675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propagandowy?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5DC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0" y="1386185"/>
            <a:ext cx="5486400" cy="3028951"/>
          </a:xfrm>
          <a:prstGeom prst="rect">
            <a:avLst/>
          </a:prstGeom>
          <a:solidFill>
            <a:srgbClr val="E7DED0"/>
          </a:solidFill>
          <a:ln w="57150">
            <a:solidFill>
              <a:srgbClr val="303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386185"/>
            <a:ext cx="5486400" cy="3028951"/>
          </a:xfrm>
          <a:prstGeom prst="rect">
            <a:avLst/>
          </a:prstGeom>
          <a:solidFill>
            <a:srgbClr val="FFFDF9"/>
          </a:solidFill>
          <a:ln w="57150">
            <a:solidFill>
              <a:srgbClr val="3034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7237" y="4681836"/>
            <a:ext cx="10677525" cy="952500"/>
          </a:xfrm>
          <a:prstGeom prst="rect">
            <a:avLst/>
          </a:prstGeom>
          <a:solidFill>
            <a:srgbClr val="30343D"/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409956"/>
            <a:ext cx="9540109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Kursk: inicjatywa przechodzi do ZSRR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66800" y="1729466"/>
            <a:ext cx="1524821" cy="41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VII 1943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553200" y="1729466"/>
            <a:ext cx="2235773" cy="41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A2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23 VIII 1943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66800" y="2359902"/>
            <a:ext cx="384505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Niemcy rozpoczynają operację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553200" y="2359902"/>
            <a:ext cx="31497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ofensywa nie przełamuje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66800" y="2674376"/>
            <a:ext cx="381647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„Cytadela” przeciw występowi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53200" y="2674376"/>
            <a:ext cx="373075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przygotowanej obrony; Armia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800" y="2988850"/>
            <a:ext cx="142570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kurskiemu.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553200" y="2988850"/>
            <a:ext cx="407365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Czerwona przechodzi do działań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553200" y="3303324"/>
            <a:ext cx="159715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zaczepnych.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90613" y="4853666"/>
            <a:ext cx="913142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Kursku Niemcy nie odzyskali strategicznej inicjatywy na froncie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90613" y="5158466"/>
            <a:ext cx="168287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wschodnim.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343D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036118"/>
            <a:ext cx="3638550" cy="2781300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8741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43850" y="2036118"/>
            <a:ext cx="3638550" cy="2781300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5977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6725" y="2036118"/>
            <a:ext cx="3638549" cy="2781300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B59B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3950" y="5141268"/>
            <a:ext cx="9944100" cy="942975"/>
          </a:xfrm>
          <a:prstGeom prst="rect">
            <a:avLst/>
          </a:prstGeom>
          <a:solidFill>
            <a:srgbClr val="B59B73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726513"/>
            <a:ext cx="5117532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Trzy etapy przełomu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6775" y="2417499"/>
            <a:ext cx="131155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Moskwa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33900" y="2417499"/>
            <a:ext cx="161664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Stalingrad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01025" y="2417499"/>
            <a:ext cx="100704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Kursk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66775" y="3053739"/>
            <a:ext cx="31973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C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koniec planu zwycięstwa 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33900" y="3053739"/>
            <a:ext cx="30449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C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okrążenie i zniszczenie 6.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01025" y="3053739"/>
            <a:ext cx="20353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C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trwała inicjatywa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6775" y="3341721"/>
            <a:ext cx="8732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C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1941 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33900" y="3341721"/>
            <a:ext cx="6732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C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Armii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1025" y="3341721"/>
            <a:ext cx="21877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C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strategiczna ZSRR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52625" y="5303574"/>
            <a:ext cx="835990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wojna błyskawiczna zatrzymana → wielka armia zniszczona →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4762500" y="5613136"/>
            <a:ext cx="274015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inicjatywa utracona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59B73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52650" y="0"/>
            <a:ext cx="78867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303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90825" y="1814364"/>
            <a:ext cx="6638925" cy="3630216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9A24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19400" y="4221807"/>
            <a:ext cx="6591301" cy="956072"/>
          </a:xfrm>
          <a:prstGeom prst="rect">
            <a:avLst/>
          </a:prstGeom>
          <a:solidFill>
            <a:srgbClr val="FFFDF9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9400" y="2081064"/>
            <a:ext cx="6591301" cy="956072"/>
          </a:xfrm>
          <a:prstGeom prst="rect">
            <a:avLst/>
          </a:prstGeom>
          <a:solidFill>
            <a:srgbClr val="FFFDF9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9400" y="3151436"/>
            <a:ext cx="6591301" cy="956071"/>
          </a:xfrm>
          <a:prstGeom prst="rect">
            <a:avLst/>
          </a:prstGeom>
          <a:solidFill>
            <a:srgbClr val="FFFDF9"/>
          </a:solidFill>
          <a:ln w="1270">
            <a:solidFill>
              <a:srgbClr val="30343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0825" y="666685"/>
            <a:ext cx="3185744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03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Bilet wyjścia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81400" y="2252895"/>
            <a:ext cx="470230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Podaj datę ataku i dwa kierunki planu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581400" y="2549956"/>
            <a:ext cx="179717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„Barbarossa”.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581400" y="3323267"/>
            <a:ext cx="527380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Rozróżnij znaczenie Moskwy, Stalingradu 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581400" y="3620328"/>
            <a:ext cx="98755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Kurska.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581400" y="4393639"/>
            <a:ext cx="56262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Podaj jeden militarny i jeden ideologiczny cel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581400" y="4690699"/>
            <a:ext cx="41022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niemieckiej wojny przeciw ZSRR.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910012" y="5673561"/>
            <a:ext cx="44737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30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minuty • odpowiedz samodzielnie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history-lessons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wschodni 1941–1943</dc:title>
  <dc:subject>Edytowalna lekcja historii wyeksportowana z prezentacji HTML</dc:subject>
  <dc:creator>Mateusz</dc:creator>
  <cp:lastModifiedBy>Mateusz</cp:lastModifiedBy>
  <cp:revision>1</cp:revision>
  <dcterms:created xsi:type="dcterms:W3CDTF">2026-09-14T13:33:55Z</dcterms:created>
  <dcterms:modified xsi:type="dcterms:W3CDTF">2026-09-14T13:33:55Z</dcterms:modified>
</cp:coreProperties>
</file>