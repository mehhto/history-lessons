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3447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380" y="0"/>
            <a:ext cx="5242471" cy="6858000"/>
          </a:xfrm>
          <a:prstGeom prst="rect">
            <a:avLst/>
          </a:prstGeom>
          <a:solidFill>
            <a:srgbClr val="182637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380" y="6076950"/>
            <a:ext cx="5242471" cy="781050"/>
          </a:xfrm>
          <a:prstGeom prst="rect">
            <a:avLst/>
          </a:prstGeom>
          <a:solidFill>
            <a:srgbClr val="243447">
              <a:alpha val="9200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4398466"/>
            <a:ext cx="5686425" cy="678656"/>
          </a:xfrm>
          <a:prstGeom prst="rect">
            <a:avLst/>
          </a:prstGeom>
          <a:solidFill>
            <a:srgbClr val="000000">
              <a:alpha val="0"/>
            </a:srgbClr>
          </a:solidFill>
          <a:ln w="31750">
            <a:solidFill>
              <a:srgbClr val="FFF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866454"/>
            <a:ext cx="3994845" cy="371773"/>
          </a:xfrm>
          <a:prstGeom prst="rect">
            <a:avLst/>
          </a:prstGeom>
          <a:solidFill>
            <a:srgbClr val="C89C3D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pic>
        <p:nvPicPr>
          <p:cNvPr id="7" name="Image 0" descr="Współczesny widok Zachodniego Muru w Jerozolimi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380" y="0"/>
            <a:ext cx="5242471" cy="685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3425" y="1943035"/>
            <a:ext cx="3820347" cy="236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BLISKI WSCHÓD · STAROŻYTNOŚĆ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9600" y="2362432"/>
            <a:ext cx="4997428" cy="87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starożytnym</a:t>
            </a:r>
            <a:endParaRPr lang="en-US" sz="4950" dirty="0"/>
          </a:p>
        </p:txBody>
      </p:sp>
      <p:sp>
        <p:nvSpPr>
          <p:cNvPr id="10" name="Text 7"/>
          <p:cNvSpPr/>
          <p:nvPr/>
        </p:nvSpPr>
        <p:spPr>
          <a:xfrm>
            <a:off x="609600" y="2965930"/>
            <a:ext cx="2405289" cy="87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Izraelu</a:t>
            </a:r>
            <a:endParaRPr lang="en-US" sz="4950" dirty="0"/>
          </a:p>
        </p:txBody>
      </p:sp>
      <p:sp>
        <p:nvSpPr>
          <p:cNvPr id="11" name="Text 8"/>
          <p:cNvSpPr/>
          <p:nvPr/>
        </p:nvSpPr>
        <p:spPr>
          <a:xfrm>
            <a:off x="609600" y="3817078"/>
            <a:ext cx="5605094" cy="34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4D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Dzieje, religia i znaczenie Jerozolimy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866775" y="4408372"/>
            <a:ext cx="4826127" cy="34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F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 jedno miejsce połączyło historię,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866775" y="4747701"/>
            <a:ext cx="2121027" cy="34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F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wiarę i pamięć?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7139880" y="6220207"/>
            <a:ext cx="481660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Zachodni Mur w Jerozolimie. Fot. Sheepdog85, CC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139880" y="6467856"/>
            <a:ext cx="17971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BY-SA 3.0, za ZPE.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BDD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1290638"/>
            <a:ext cx="10972800" cy="4990207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95975" y="5590282"/>
            <a:ext cx="5581649" cy="620018"/>
          </a:xfrm>
          <a:prstGeom prst="rect">
            <a:avLst/>
          </a:prstGeom>
          <a:solidFill>
            <a:srgbClr val="243447"/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5" name="Image 0" descr="Mapa Palestyny na przełomie drugiego i pierwszego tysiąclecia przed naszą erą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3425" y="1604963"/>
            <a:ext cx="10188773" cy="438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409956"/>
            <a:ext cx="814559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Gdzie rozgrywała się ta historia?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200775" y="5743063"/>
            <a:ext cx="1035177" cy="34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Znajdź: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7248525" y="5743063"/>
            <a:ext cx="4073652" cy="34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Egipt • Kanaan • Jerozolimę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733425" y="6158294"/>
            <a:ext cx="1068400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syntetyczna: trasa tradycji wyjścia, królestwa Dawida i Salomona, podział Izraela i Judy oraz wygnanie do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3425" y="6383024"/>
            <a:ext cx="391172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Babilonii. ZPE, Krystian Chariza i zespół.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BDD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1351657"/>
            <a:ext cx="10972800" cy="3076575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434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380232"/>
            <a:ext cx="3657600" cy="301942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7200" y="1208782"/>
            <a:ext cx="3657600" cy="3019425"/>
          </a:xfrm>
          <a:prstGeom prst="rect">
            <a:avLst/>
          </a:prstGeom>
          <a:solidFill>
            <a:srgbClr val="243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800" y="4752082"/>
            <a:ext cx="10058400" cy="909042"/>
          </a:xfrm>
          <a:prstGeom prst="rect">
            <a:avLst/>
          </a:prstGeom>
          <a:solidFill>
            <a:srgbClr val="243447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409956"/>
            <a:ext cx="6930706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Początki w tradycji biblijnej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43425" y="1523488"/>
            <a:ext cx="1305896" cy="46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C89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Mojżesz</a:t>
            </a:r>
            <a:endParaRPr lang="en-US" sz="2775" dirty="0"/>
          </a:p>
        </p:txBody>
      </p:sp>
      <p:sp>
        <p:nvSpPr>
          <p:cNvPr id="9" name="Text 7"/>
          <p:cNvSpPr/>
          <p:nvPr/>
        </p:nvSpPr>
        <p:spPr>
          <a:xfrm>
            <a:off x="885825" y="1694938"/>
            <a:ext cx="1522143" cy="46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B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Abraham</a:t>
            </a:r>
            <a:endParaRPr lang="en-US" sz="2775" dirty="0"/>
          </a:p>
        </p:txBody>
      </p:sp>
      <p:sp>
        <p:nvSpPr>
          <p:cNvPr id="10" name="Text 8"/>
          <p:cNvSpPr/>
          <p:nvPr/>
        </p:nvSpPr>
        <p:spPr>
          <a:xfrm>
            <a:off x="8201025" y="1694938"/>
            <a:ext cx="1267944" cy="46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B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Kanaan</a:t>
            </a:r>
            <a:endParaRPr lang="en-US" sz="2775" dirty="0"/>
          </a:p>
        </p:txBody>
      </p:sp>
      <p:sp>
        <p:nvSpPr>
          <p:cNvPr id="11" name="Text 9"/>
          <p:cNvSpPr/>
          <p:nvPr/>
        </p:nvSpPr>
        <p:spPr>
          <a:xfrm>
            <a:off x="4543425" y="2267331"/>
            <a:ext cx="2940177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wyjście z Egiptu, Synaj i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85825" y="2438781"/>
            <a:ext cx="2673477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przymierze i początek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8201025" y="2438781"/>
            <a:ext cx="2863977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ziemia, w której według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543425" y="2572131"/>
            <a:ext cx="1035177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Dekalog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885825" y="2743581"/>
            <a:ext cx="1568577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dziejów rodu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8201025" y="2743581"/>
            <a:ext cx="2349626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tradycji osiedlili się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8201025" y="3048381"/>
            <a:ext cx="97802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Izraelici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371600" y="4914388"/>
            <a:ext cx="10066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Ważne: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381250" y="4914388"/>
            <a:ext cx="84932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opowieści kształtujące pamięć wspólnoty; nie mają jednej bezspornej,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206985"/>
            <a:ext cx="18257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dokładnej daty.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BDD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45655" y="4009132"/>
            <a:ext cx="9182100" cy="647700"/>
          </a:xfrm>
          <a:prstGeom prst="rect">
            <a:avLst/>
          </a:prstGeom>
          <a:solidFill>
            <a:srgbClr val="243447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409956"/>
            <a:ext cx="7758042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 królestwa do dwóch państw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5825" y="1523488"/>
            <a:ext cx="1616649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ok. X w. p.n.e.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43425" y="1523488"/>
            <a:ext cx="100154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tradycja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8201025" y="1523488"/>
            <a:ext cx="1552206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 Salomonie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885825" y="2534031"/>
            <a:ext cx="111137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Dawid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4543425" y="2534031"/>
            <a:ext cx="15019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Salomon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8201025" y="2534031"/>
            <a:ext cx="129235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Podział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885825" y="3003584"/>
            <a:ext cx="19591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Jerozolima stolicą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4543425" y="3003584"/>
            <a:ext cx="21496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Pierwsza Świątynia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8201025" y="3003584"/>
            <a:ext cx="30449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Izrael na północy • Juda na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8201025" y="3275195"/>
            <a:ext cx="10447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południu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2488555" y="4180963"/>
            <a:ext cx="714070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Dlaczego stolica i Świątynia wzmacniały wspólnotę?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3447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1361182"/>
            <a:ext cx="2721769" cy="3381375"/>
          </a:xfrm>
          <a:prstGeom prst="rect">
            <a:avLst/>
          </a:prstGeom>
          <a:solidFill>
            <a:srgbClr val="FFFFFF">
              <a:alpha val="7000"/>
            </a:srgbClr>
          </a:solidFill>
          <a:ln w="57150">
            <a:solidFill>
              <a:srgbClr val="B85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10288" y="1361182"/>
            <a:ext cx="2721769" cy="3381375"/>
          </a:xfrm>
          <a:prstGeom prst="rect">
            <a:avLst/>
          </a:prstGeom>
          <a:solidFill>
            <a:srgbClr val="FFFFFF">
              <a:alpha val="7000"/>
            </a:srgbClr>
          </a:solidFill>
          <a:ln w="57150">
            <a:solidFill>
              <a:srgbClr val="657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0631" y="1361182"/>
            <a:ext cx="2721769" cy="3381375"/>
          </a:xfrm>
          <a:prstGeom prst="rect">
            <a:avLst/>
          </a:prstGeom>
          <a:solidFill>
            <a:srgbClr val="FFFFFF">
              <a:alpha val="7000"/>
            </a:srgbClr>
          </a:solidFill>
          <a:ln w="571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59944" y="1361182"/>
            <a:ext cx="2721769" cy="3381375"/>
          </a:xfrm>
          <a:prstGeom prst="rect">
            <a:avLst/>
          </a:prstGeom>
          <a:solidFill>
            <a:srgbClr val="FFFFFF">
              <a:alpha val="7000"/>
            </a:srgbClr>
          </a:solidFill>
          <a:ln w="57150">
            <a:solidFill>
              <a:srgbClr val="C89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409956"/>
            <a:ext cx="10141524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Utrata państwa — zachowanie wspólnoty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38200" y="1723513"/>
            <a:ext cx="1193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722 p.n.e.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3588544" y="1723513"/>
            <a:ext cx="1684663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587/586 p.n.e.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6338888" y="1723513"/>
            <a:ext cx="1193679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wygnanie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089232" y="1723513"/>
            <a:ext cx="204557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 539/538 p.n.e.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838200" y="2330137"/>
            <a:ext cx="217817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9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Asyria podbija Izrael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588544" y="2330137"/>
            <a:ext cx="226390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9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Babilończycy niszczą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38888" y="2330137"/>
            <a:ext cx="209245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9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część ludności Judy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089232" y="2330137"/>
            <a:ext cx="186385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9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 panowaniem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588544" y="2598325"/>
            <a:ext cx="226390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9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Jerozolimę i Pierwszą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38888" y="2598325"/>
            <a:ext cx="190195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9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trafia do Babilonii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089232" y="2598325"/>
            <a:ext cx="145427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9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Persów część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588544" y="2866513"/>
            <a:ext cx="109232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9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Świątynię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089232" y="2866513"/>
            <a:ext cx="198767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9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wygnańców wraca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BDD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9650" y="4368403"/>
            <a:ext cx="10172701" cy="597397"/>
          </a:xfrm>
          <a:prstGeom prst="rect">
            <a:avLst/>
          </a:prstGeom>
          <a:solidFill>
            <a:srgbClr val="EADFCA"/>
          </a:solidFill>
          <a:ln w="50800">
            <a:solidFill>
              <a:srgbClr val="243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409956"/>
            <a:ext cx="7136386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Obce panowanie i powstania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5825" y="1523488"/>
            <a:ext cx="111643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167 p.n.e.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43425" y="1523488"/>
            <a:ext cx="1166146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66–73 n.e.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8201025" y="1523488"/>
            <a:ext cx="1423321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132–135 n.e.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885825" y="2534031"/>
            <a:ext cx="231152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Machabeusze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4543425" y="2534031"/>
            <a:ext cx="31783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Powstanie przeciw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8201025" y="2534031"/>
            <a:ext cx="1959102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Kochba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4543425" y="2917859"/>
            <a:ext cx="1549527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Rzymowi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885825" y="3003584"/>
            <a:ext cx="26449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sprzeciw wobec władzy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8201025" y="3003584"/>
            <a:ext cx="27973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klęska i nasilone represje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885825" y="3275195"/>
            <a:ext cx="139712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Seleucydów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4543425" y="3387412"/>
            <a:ext cx="24353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n.e. — zniszczenie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4543425" y="3659023"/>
            <a:ext cx="18638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Drugiej Świątyni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323975" y="4521184"/>
            <a:ext cx="88933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Kolejne podboje i rozproszenie nie zakończyły istnienia wspólnoty ani religii.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8523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428875"/>
            <a:ext cx="10972800" cy="2264123"/>
          </a:xfrm>
          <a:prstGeom prst="rect">
            <a:avLst/>
          </a:prstGeom>
          <a:solidFill>
            <a:srgbClr val="FFFDF8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157222"/>
            <a:ext cx="7718900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Uporządkuj sześć wydarzeń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371725" y="2705481"/>
            <a:ext cx="5388102" cy="37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85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Pracujcie w parach. Macie 6 minut.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981325" y="3247513"/>
            <a:ext cx="49118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Wpiszcie kolejność wydarzeń z zadania 1.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81325" y="3640568"/>
            <a:ext cx="57214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Wybierzcie jedno przejście i wyjaśnijcie związek: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05850" y="3640568"/>
            <a:ext cx="24925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wydarzenie → skutek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25200" y="3640568"/>
            <a:ext cx="1493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81325" y="4033623"/>
            <a:ext cx="6693028" cy="31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Zaznaczcie, które wydarzenia należą do tradycji biblijnej.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38363" y="5182875"/>
            <a:ext cx="798842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Gotowe: sześć numerów + jedno zdanie przyczynowo‑skutkowe.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332607"/>
            <a:ext cx="4419600" cy="1619250"/>
          </a:xfrm>
          <a:prstGeom prst="rect">
            <a:avLst/>
          </a:prstGeom>
          <a:solidFill>
            <a:srgbClr val="FFFFFF">
              <a:alpha val="8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38750" y="1332607"/>
            <a:ext cx="4419600" cy="1619250"/>
          </a:xfrm>
          <a:prstGeom prst="rect">
            <a:avLst/>
          </a:prstGeom>
          <a:solidFill>
            <a:srgbClr val="FFFFFF">
              <a:alpha val="8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3094732"/>
            <a:ext cx="4419600" cy="1619250"/>
          </a:xfrm>
          <a:prstGeom prst="rect">
            <a:avLst/>
          </a:prstGeom>
          <a:solidFill>
            <a:srgbClr val="FFFFFF">
              <a:alpha val="8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38750" y="3094732"/>
            <a:ext cx="4419600" cy="1619250"/>
          </a:xfrm>
          <a:prstGeom prst="rect">
            <a:avLst/>
          </a:prstGeom>
          <a:solidFill>
            <a:srgbClr val="FFFFFF">
              <a:alpha val="800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39025" y="5302449"/>
            <a:ext cx="4133850" cy="926902"/>
          </a:xfrm>
          <a:prstGeom prst="rect">
            <a:avLst/>
          </a:prstGeom>
          <a:solidFill>
            <a:srgbClr val="FFFDF8"/>
          </a:solidFill>
          <a:ln w="31750">
            <a:solidFill>
              <a:srgbClr val="C89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409956"/>
            <a:ext cx="803694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Judaizm — religia jednego Boga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42975" y="1561588"/>
            <a:ext cx="1844802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monoteizm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572125" y="1561588"/>
            <a:ext cx="1844802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przymierze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42975" y="2009263"/>
            <a:ext cx="237820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DF1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wiara w jednego Boga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572125" y="2009263"/>
            <a:ext cx="376885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DF1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szczególna więź Boga i ludu Izraela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42975" y="3323713"/>
            <a:ext cx="1073277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prawo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72125" y="3323713"/>
            <a:ext cx="1216152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pamięć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42975" y="3771388"/>
            <a:ext cx="366407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DF1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zasady życia jednostki i wspólnoty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572125" y="3771388"/>
            <a:ext cx="315925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DF1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opowieści, święta i nauczanie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572125" y="4031093"/>
            <a:ext cx="254965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DF1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podtrzymują tożsamość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648575" y="5521904"/>
            <a:ext cx="3368802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politeizm = wielu bogów •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48575" y="5790093"/>
            <a:ext cx="2921127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monoteizm = jeden Bóg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BDD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1042" y="1320701"/>
            <a:ext cx="6101358" cy="4930081"/>
          </a:xfrm>
          <a:prstGeom prst="rect">
            <a:avLst/>
          </a:prstGeom>
          <a:solidFill>
            <a:srgbClr val="FFFFFF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595438"/>
            <a:ext cx="4509493" cy="4380607"/>
          </a:xfrm>
          <a:prstGeom prst="rect">
            <a:avLst/>
          </a:prstGeom>
          <a:solidFill>
            <a:srgbClr val="FFFDF8"/>
          </a:solidFill>
          <a:ln w="63500">
            <a:solidFill>
              <a:srgbClr val="243447"/>
            </a:solidFill>
            <a:prstDash val="solid"/>
          </a:ln>
        </p:spPr>
      </p:sp>
      <p:pic>
        <p:nvPicPr>
          <p:cNvPr id="5" name="Image 0" descr="Otwarty zwój Tory zapisany alfabetem hebrajski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95342" y="1625501"/>
            <a:ext cx="5579120" cy="4095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409956"/>
            <a:ext cx="5597652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Tora, prorocy, Mesjasz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33500" y="2033969"/>
            <a:ext cx="7113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Tora: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47875" y="2033969"/>
            <a:ext cx="25972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pięć pierwszych ksiąg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33500" y="2326565"/>
            <a:ext cx="25591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Biblii hebrajskiej oraz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33500" y="2619161"/>
            <a:ext cx="32068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zawarte w nich nauczanie 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33500" y="2911757"/>
            <a:ext cx="8637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prawo.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33500" y="3347228"/>
            <a:ext cx="11590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Prorocy: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495550" y="3347228"/>
            <a:ext cx="13495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wzywali do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33500" y="3639824"/>
            <a:ext cx="19019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wierności Bogu,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33500" y="3932420"/>
            <a:ext cx="3111627" cy="3147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sprawiedliwości i poprawy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33500" y="4225016"/>
            <a:ext cx="17590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postępowania.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33500" y="4660488"/>
            <a:ext cx="11780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Mesjasz: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514600" y="4660488"/>
            <a:ext cx="141617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oczekiwany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33500" y="4953083"/>
            <a:ext cx="285445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„pomazaniec”, z którym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33500" y="5245680"/>
            <a:ext cx="34926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wiązano nadzieję na odnowę.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595342" y="5893082"/>
            <a:ext cx="4445127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Zwój Tory. Fot. Lewrie Cate, CC BY 2.0, za ZPE.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DFCE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1170682"/>
            <a:ext cx="8382000" cy="5573911"/>
          </a:xfrm>
          <a:prstGeom prst="rect">
            <a:avLst/>
          </a:prstGeom>
          <a:solidFill>
            <a:srgbClr val="FFFFFF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pic>
        <p:nvPicPr>
          <p:cNvPr id="4" name="Image 0" descr="Schemat funkcji i chronologii Świątyni Jerozolimskiej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42950" y="1494532"/>
            <a:ext cx="7709446" cy="4476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409956"/>
            <a:ext cx="6811197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Świątynia — centrum kultu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2950" y="6143113"/>
            <a:ext cx="7502653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Schemat autorski — pokazuje funkcje i chronologię, nie rekonstruuje wyglądu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2950" y="6367844"/>
            <a:ext cx="882777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budowli.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BDD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1042" y="1290638"/>
            <a:ext cx="6101358" cy="5011936"/>
          </a:xfrm>
          <a:prstGeom prst="rect">
            <a:avLst/>
          </a:prstGeom>
          <a:solidFill>
            <a:srgbClr val="FFFFFF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977331"/>
            <a:ext cx="4509493" cy="3638550"/>
          </a:xfrm>
          <a:prstGeom prst="rect">
            <a:avLst/>
          </a:prstGeom>
          <a:solidFill>
            <a:srgbClr val="FFFDF8"/>
          </a:solidFill>
          <a:ln w="63500">
            <a:solidFill>
              <a:srgbClr val="243447"/>
            </a:solidFill>
            <a:prstDash val="solid"/>
          </a:ln>
        </p:spPr>
      </p:sp>
      <p:pic>
        <p:nvPicPr>
          <p:cNvPr id="5" name="Image 0" descr="Współczesny widok Zachodniego Muru w Jerozolimi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95342" y="1595438"/>
            <a:ext cx="5579120" cy="3952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409956"/>
            <a:ext cx="9521059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pozostało po kompleksie Świątyni?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66800" y="2272987"/>
            <a:ext cx="2940177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Druga Świątynia została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066800" y="2577787"/>
            <a:ext cx="343547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zniszczona przez Rzymian w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1066800" y="2882586"/>
            <a:ext cx="1263777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r. n.e.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1066800" y="3339787"/>
            <a:ext cx="192100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Zachodni Mur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2990850" y="3339787"/>
            <a:ext cx="1444752" cy="32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jest częścią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1066800" y="3644587"/>
            <a:ext cx="3225927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muru oporowego dawnego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066800" y="3949387"/>
            <a:ext cx="243535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kompleksu Wzgórza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1066800" y="4254187"/>
            <a:ext cx="1682877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Świątynnego.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066800" y="4711387"/>
            <a:ext cx="319735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85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jest ścianą samego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1066800" y="5016187"/>
            <a:ext cx="2587752" cy="325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85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budynku Świątyni.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5595342" y="5720144"/>
            <a:ext cx="5835777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Zachodni Mur w Jerozolimie. Fot. Sheepdog85, CC BY-SA 3.0,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595342" y="5944875"/>
            <a:ext cx="77800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 ZPE.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D3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92501" y="1557338"/>
            <a:ext cx="3606850" cy="4117777"/>
          </a:xfrm>
          <a:prstGeom prst="rect">
            <a:avLst/>
          </a:prstGeom>
          <a:solidFill>
            <a:srgbClr val="FFFFFF">
              <a:alpha val="8000"/>
            </a:srgbClr>
          </a:solidFill>
          <a:ln w="44450">
            <a:solidFill>
              <a:srgbClr val="B85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75550" y="1557338"/>
            <a:ext cx="3606701" cy="4117777"/>
          </a:xfrm>
          <a:prstGeom prst="rect">
            <a:avLst/>
          </a:prstGeom>
          <a:solidFill>
            <a:srgbClr val="FFFFFF">
              <a:alpha val="8000"/>
            </a:srgbClr>
          </a:solidFill>
          <a:ln w="44450">
            <a:solidFill>
              <a:srgbClr val="657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1557338"/>
            <a:ext cx="3606701" cy="4117777"/>
          </a:xfrm>
          <a:prstGeom prst="rect">
            <a:avLst/>
          </a:prstGeom>
          <a:solidFill>
            <a:srgbClr val="FFFFFF">
              <a:alpha val="8000"/>
            </a:srgbClr>
          </a:solidFill>
          <a:ln w="44450">
            <a:solidFill>
              <a:srgbClr val="C89C3D"/>
            </a:solidFill>
            <a:prstDash val="solid"/>
          </a:ln>
        </p:spPr>
      </p:sp>
      <p:pic>
        <p:nvPicPr>
          <p:cNvPr id="6" name="Image 0" descr="Menor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" y="2005013"/>
            <a:ext cx="3064372" cy="2333625"/>
          </a:xfrm>
          <a:prstGeom prst="rect">
            <a:avLst/>
          </a:prstGeom>
        </p:spPr>
      </p:pic>
      <p:pic>
        <p:nvPicPr>
          <p:cNvPr id="7" name="Image 1" descr="Zwój Tor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3001" y="2005013"/>
            <a:ext cx="3064520" cy="2333625"/>
          </a:xfrm>
          <a:prstGeom prst="rect">
            <a:avLst/>
          </a:prstGeom>
        </p:spPr>
      </p:pic>
      <p:pic>
        <p:nvPicPr>
          <p:cNvPr id="8" name="Image 2" descr="Gwiazda Dawida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6051" y="2005013"/>
            <a:ext cx="3064371" cy="23336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9600" y="409956"/>
            <a:ext cx="7269736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Rozpoznaj symbole judaizmu</a:t>
            </a:r>
            <a:endParaRPr lang="en-US" sz="3600" dirty="0"/>
          </a:p>
        </p:txBody>
      </p:sp>
      <p:sp>
        <p:nvSpPr>
          <p:cNvPr id="10" name="Text 5"/>
          <p:cNvSpPr/>
          <p:nvPr/>
        </p:nvSpPr>
        <p:spPr>
          <a:xfrm>
            <a:off x="800100" y="4737134"/>
            <a:ext cx="89230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Menora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4483001" y="4737134"/>
            <a:ext cx="539877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Tora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166051" y="4737134"/>
            <a:ext cx="184480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Gwiazda Dawida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00100" y="4961865"/>
            <a:ext cx="270205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siedmioramienny świecznik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483001" y="4961865"/>
            <a:ext cx="180670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nauczanie i prawo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166051" y="4961865"/>
            <a:ext cx="2406777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 upowszechniony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00100" y="5186595"/>
            <a:ext cx="222580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związany ze Świątynią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166051" y="5186595"/>
            <a:ext cx="167335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znacznie później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09600" y="5966900"/>
            <a:ext cx="5340477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AE1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ZPE: Contentplus.pl, CC BY 3.0; Lewrie Cate, CC BY 2.0.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3447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95412" y="5293817"/>
            <a:ext cx="9401175" cy="616446"/>
          </a:xfrm>
          <a:prstGeom prst="rect">
            <a:avLst/>
          </a:prstGeom>
          <a:solidFill>
            <a:srgbClr val="FFFDF8"/>
          </a:solidFill>
          <a:ln w="50800">
            <a:solidFill>
              <a:srgbClr val="243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900345"/>
            <a:ext cx="6612511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do następnej historii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6775" y="2175802"/>
            <a:ext cx="216027" cy="37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89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33900" y="2175802"/>
            <a:ext cx="216027" cy="37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89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201025" y="2175802"/>
            <a:ext cx="216027" cy="37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89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66775" y="3223552"/>
            <a:ext cx="1063752" cy="43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Judea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4533900" y="3223552"/>
            <a:ext cx="2502027" cy="43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Miasta i drogi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8201025" y="3223552"/>
            <a:ext cx="1149477" cy="43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Morze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8201025" y="3632085"/>
            <a:ext cx="2159126" cy="43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Śródziemne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866775" y="3746385"/>
            <a:ext cx="29116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Chrześcijaństwo narodziło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4533900" y="3746385"/>
            <a:ext cx="2482977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Uczniowie Jezusa oraz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866775" y="4024545"/>
            <a:ext cx="317830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się w środowisku żydowskim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4533900" y="4024545"/>
            <a:ext cx="20924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pierwsi misjonarze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8201025" y="4154918"/>
            <a:ext cx="2702052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I–III w. n.e. wspólnoty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866775" y="4302704"/>
            <a:ext cx="2025777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rzymskiej Judei.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4533900" y="4302704"/>
            <a:ext cx="2883027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przekazywali naukę przez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8201025" y="4433078"/>
            <a:ext cx="31211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pojawiały się od wschodniej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4533900" y="4580865"/>
            <a:ext cx="2816352" cy="292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miasta i porty cesarstwa.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8201025" y="4711238"/>
            <a:ext cx="2997327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8E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części cesarstwa po Rzym.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700213" y="5456122"/>
            <a:ext cx="89409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pomagało nowej religii rozchodzić się między odległymi miastami?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BDD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1697236"/>
            <a:ext cx="6332190" cy="2749154"/>
          </a:xfrm>
          <a:prstGeom prst="rect">
            <a:avLst/>
          </a:prstGeom>
          <a:solidFill>
            <a:srgbClr val="243447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890" y="1170682"/>
            <a:ext cx="4221510" cy="3802261"/>
          </a:xfrm>
          <a:prstGeom prst="rect">
            <a:avLst/>
          </a:prstGeom>
          <a:solidFill>
            <a:srgbClr val="FFFFFF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pic>
        <p:nvPicPr>
          <p:cNvPr id="5" name="Image 0" descr="Flaga współczesnego państwa Izrae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13290" y="1513582"/>
            <a:ext cx="3720852" cy="266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409956"/>
            <a:ext cx="846944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Starożytność a współczesny Izrael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85850" y="2040517"/>
            <a:ext cx="949452" cy="43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9272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1948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2057400" y="2040517"/>
            <a:ext cx="4473702" cy="43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ogłoszenie niepodległości</a:t>
            </a:r>
            <a:endParaRPr lang="en-US" sz="2475" dirty="0"/>
          </a:p>
        </p:txBody>
      </p:sp>
      <p:sp>
        <p:nvSpPr>
          <p:cNvPr id="9" name="Text 6"/>
          <p:cNvSpPr/>
          <p:nvPr/>
        </p:nvSpPr>
        <p:spPr>
          <a:xfrm>
            <a:off x="1085850" y="2442799"/>
            <a:ext cx="4902327" cy="438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współczesnego państwa Izrael.</a:t>
            </a:r>
            <a:endParaRPr lang="en-US" sz="2475" dirty="0"/>
          </a:p>
        </p:txBody>
      </p:sp>
      <p:sp>
        <p:nvSpPr>
          <p:cNvPr id="10" name="Text 7"/>
          <p:cNvSpPr/>
          <p:nvPr/>
        </p:nvSpPr>
        <p:spPr>
          <a:xfrm>
            <a:off x="1085850" y="3035582"/>
            <a:ext cx="52452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Leży w tym samym regionie, ale nie jest tym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85850" y="3328178"/>
            <a:ext cx="5511927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samym organizmem politycznym co starożytne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85850" y="3620774"/>
            <a:ext cx="2797302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królestwa Izraela i Judy.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513290" y="4352414"/>
            <a:ext cx="390220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Flaga Izraela. Contentplus.pl, CC BY 3.0,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513290" y="4577144"/>
            <a:ext cx="778002" cy="26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 ZPE.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9C3D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52650" y="0"/>
            <a:ext cx="78867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434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90825" y="1754237"/>
            <a:ext cx="6638925" cy="3630215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9272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19400" y="3864620"/>
            <a:ext cx="6591301" cy="1253133"/>
          </a:xfrm>
          <a:prstGeom prst="rect">
            <a:avLst/>
          </a:prstGeom>
          <a:solidFill>
            <a:srgbClr val="FFFDF8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19400" y="2794248"/>
            <a:ext cx="6591301" cy="956072"/>
          </a:xfrm>
          <a:prstGeom prst="rect">
            <a:avLst/>
          </a:prstGeom>
          <a:solidFill>
            <a:srgbClr val="FFFDF8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19400" y="2020937"/>
            <a:ext cx="6591301" cy="659011"/>
          </a:xfrm>
          <a:prstGeom prst="rect">
            <a:avLst/>
          </a:prstGeom>
          <a:solidFill>
            <a:srgbClr val="FFFDF8"/>
          </a:solidFill>
          <a:ln w="1270">
            <a:solidFill>
              <a:srgbClr val="24344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90825" y="726811"/>
            <a:ext cx="3185744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Bilet wyjścia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81400" y="2192768"/>
            <a:ext cx="52071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Czym monoteizm różni się od politeizmu?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581400" y="2966079"/>
            <a:ext cx="49404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Podaj dwa elementy judaizmu i objaśnij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581400" y="3263140"/>
            <a:ext cx="16257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jeden z nich.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581400" y="4036451"/>
            <a:ext cx="534047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Gdzie i kiedy narodziło się chrześcijaństwo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581400" y="4333512"/>
            <a:ext cx="4588002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i w jakim kierunku początkowo się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581400" y="4630573"/>
            <a:ext cx="2349627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rozprzestrzeniało?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910012" y="5613434"/>
            <a:ext cx="4473702" cy="292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minuty • odpowiedz samodzielnie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history-lessons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Starożytny Izrael — historia i religia</dc:title>
  <dc:subject>Edytowalna lekcja historii wyeksportowana z prezentacji HTML</dc:subject>
  <dc:creator>Mateusz</dc:creator>
  <cp:lastModifiedBy>Mateusz</cp:lastModifiedBy>
  <cp:revision>1</cp:revision>
  <dcterms:created xsi:type="dcterms:W3CDTF">2026-09-14T13:33:46Z</dcterms:created>
  <dcterms:modified xsi:type="dcterms:W3CDTF">2026-09-14T13:33:46Z</dcterms:modified>
</cp:coreProperties>
</file>