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3447"/>
          </a:solidFill>
          <a:ln w="127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380" y="0"/>
            <a:ext cx="5242471" cy="6858000"/>
          </a:xfrm>
          <a:prstGeom prst="rect">
            <a:avLst/>
          </a:prstGeom>
          <a:solidFill>
            <a:srgbClr val="182637"/>
          </a:solidFill>
          <a:ln w="127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949380" y="6076950"/>
            <a:ext cx="5242471" cy="781050"/>
          </a:xfrm>
          <a:prstGeom prst="rect">
            <a:avLst/>
          </a:prstGeom>
          <a:solidFill>
            <a:srgbClr val="243447">
              <a:alpha val="92000"/>
            </a:srgbClr>
          </a:solidFill>
          <a:ln w="127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600" y="4398466"/>
            <a:ext cx="5686425" cy="678656"/>
          </a:xfrm>
          <a:prstGeom prst="rect">
            <a:avLst/>
          </a:prstGeom>
          <a:solidFill>
            <a:srgbClr val="000000">
              <a:alpha val="0"/>
            </a:srgbClr>
          </a:solidFill>
          <a:ln w="31750">
            <a:solidFill>
              <a:srgbClr val="FFF8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600" y="1866454"/>
            <a:ext cx="3994845" cy="371773"/>
          </a:xfrm>
          <a:prstGeom prst="rect">
            <a:avLst/>
          </a:prstGeom>
          <a:solidFill>
            <a:srgbClr val="C89C3D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pic>
        <p:nvPicPr>
          <p:cNvPr id="7" name="Image 0" descr="Współczesny widok Zachodniego Muru w Jerozolimi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380" y="0"/>
            <a:ext cx="5242471" cy="6858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3425" y="1943035"/>
            <a:ext cx="3820347" cy="236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BLISKI WSCHÓD · STAROŻYTNOŚĆ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09600" y="2362432"/>
            <a:ext cx="4997428" cy="8766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 starożytnym</a:t>
            </a:r>
            <a:endParaRPr lang="en-US" sz="4950" dirty="0"/>
          </a:p>
        </p:txBody>
      </p:sp>
      <p:sp>
        <p:nvSpPr>
          <p:cNvPr id="10" name="Text 7"/>
          <p:cNvSpPr/>
          <p:nvPr/>
        </p:nvSpPr>
        <p:spPr>
          <a:xfrm>
            <a:off x="609600" y="2965930"/>
            <a:ext cx="2405289" cy="8766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Izraelu</a:t>
            </a:r>
            <a:endParaRPr lang="en-US" sz="4950" dirty="0"/>
          </a:p>
        </p:txBody>
      </p:sp>
      <p:sp>
        <p:nvSpPr>
          <p:cNvPr id="11" name="Text 8"/>
          <p:cNvSpPr/>
          <p:nvPr/>
        </p:nvSpPr>
        <p:spPr>
          <a:xfrm>
            <a:off x="609600" y="3817078"/>
            <a:ext cx="5605094" cy="3484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E4D1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Dzieje, religia i znaczenie Jerozolimy</a:t>
            </a:r>
            <a:endParaRPr lang="en-US" sz="2025" dirty="0"/>
          </a:p>
        </p:txBody>
      </p:sp>
      <p:sp>
        <p:nvSpPr>
          <p:cNvPr id="12" name="Text 9"/>
          <p:cNvSpPr/>
          <p:nvPr/>
        </p:nvSpPr>
        <p:spPr>
          <a:xfrm>
            <a:off x="866775" y="4408372"/>
            <a:ext cx="4826127" cy="3484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FFF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Jak jedno miejsce połączyło historię,</a:t>
            </a:r>
            <a:endParaRPr lang="en-US" sz="2025" dirty="0"/>
          </a:p>
        </p:txBody>
      </p:sp>
      <p:sp>
        <p:nvSpPr>
          <p:cNvPr id="13" name="Text 10"/>
          <p:cNvSpPr/>
          <p:nvPr/>
        </p:nvSpPr>
        <p:spPr>
          <a:xfrm>
            <a:off x="866775" y="4747701"/>
            <a:ext cx="2121027" cy="3484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FFF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wiarę i pamięć?</a:t>
            </a:r>
            <a:endParaRPr lang="en-US" sz="2025" dirty="0"/>
          </a:p>
        </p:txBody>
      </p:sp>
      <p:sp>
        <p:nvSpPr>
          <p:cNvPr id="14" name="Text 11"/>
          <p:cNvSpPr/>
          <p:nvPr/>
        </p:nvSpPr>
        <p:spPr>
          <a:xfrm>
            <a:off x="7139880" y="6220207"/>
            <a:ext cx="4816602" cy="269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Zachodni Mur w Jerozolimie. Fot. Sheepdog85, CC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139880" y="6467856"/>
            <a:ext cx="1797177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BY-SA 3.0, za ZPE.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EBDD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1290638"/>
            <a:ext cx="10972800" cy="4990207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48475" y="2571750"/>
            <a:ext cx="4629149" cy="833438"/>
          </a:xfrm>
          <a:prstGeom prst="rect">
            <a:avLst/>
          </a:prstGeom>
          <a:solidFill>
            <a:srgbClr val="243447"/>
          </a:solidFill>
          <a:ln w="50800">
            <a:solidFill>
              <a:srgbClr val="FFFFFF"/>
            </a:solidFill>
            <a:prstDash val="solid"/>
          </a:ln>
        </p:spPr>
      </p:sp>
      <p:pic>
        <p:nvPicPr>
          <p:cNvPr id="5" name="Image 0" descr="Mapa Palestyny na przełomie drugiego i pierwszego tysiąclecia przed naszą erą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3425" y="1604963"/>
            <a:ext cx="10188773" cy="381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9600" y="409956"/>
            <a:ext cx="8145590" cy="6294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43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Gdzie rozgrywała się ta historia?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7153275" y="2715006"/>
            <a:ext cx="892302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Znajdź:</a:t>
            </a:r>
            <a:endParaRPr lang="en-US" sz="1725" dirty="0"/>
          </a:p>
        </p:txBody>
      </p:sp>
      <p:sp>
        <p:nvSpPr>
          <p:cNvPr id="8" name="Text 5"/>
          <p:cNvSpPr/>
          <p:nvPr/>
        </p:nvSpPr>
        <p:spPr>
          <a:xfrm>
            <a:off x="8039100" y="2715006"/>
            <a:ext cx="2159127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Egipt • Kanaan •</a:t>
            </a:r>
            <a:endParaRPr lang="en-US" sz="1725" dirty="0"/>
          </a:p>
        </p:txBody>
      </p:sp>
      <p:sp>
        <p:nvSpPr>
          <p:cNvPr id="9" name="Text 6"/>
          <p:cNvSpPr/>
          <p:nvPr/>
        </p:nvSpPr>
        <p:spPr>
          <a:xfrm>
            <a:off x="7153275" y="2988850"/>
            <a:ext cx="1378078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Jerozolimę</a:t>
            </a:r>
            <a:endParaRPr lang="en-US" sz="1725" dirty="0"/>
          </a:p>
        </p:txBody>
      </p:sp>
      <p:sp>
        <p:nvSpPr>
          <p:cNvPr id="10" name="Text 7"/>
          <p:cNvSpPr/>
          <p:nvPr/>
        </p:nvSpPr>
        <p:spPr>
          <a:xfrm>
            <a:off x="733425" y="5586794"/>
            <a:ext cx="106840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E62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syntetyczna: trasa tradycji wyjścia, królestwa Dawida i Salomona, podział Izraela i Judy oraz wygnanie do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33425" y="5811524"/>
            <a:ext cx="3911727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E62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Babilonii. ZPE, Krystian Chariza i zespół.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EBDD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1351657"/>
            <a:ext cx="10972800" cy="3076575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24344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00" y="1380232"/>
            <a:ext cx="3657600" cy="3019425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2434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67200" y="1208782"/>
            <a:ext cx="3657600" cy="3019425"/>
          </a:xfrm>
          <a:prstGeom prst="rect">
            <a:avLst/>
          </a:prstGeom>
          <a:solidFill>
            <a:srgbClr val="243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6800" y="4752082"/>
            <a:ext cx="10058400" cy="909042"/>
          </a:xfrm>
          <a:prstGeom prst="rect">
            <a:avLst/>
          </a:prstGeom>
          <a:solidFill>
            <a:srgbClr val="243447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9600" y="409956"/>
            <a:ext cx="6930706" cy="6294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43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Początki w tradycji biblijnej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43425" y="1523488"/>
            <a:ext cx="1305896" cy="46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75" b="1" dirty="0">
                <a:solidFill>
                  <a:srgbClr val="C89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Mojżesz</a:t>
            </a:r>
            <a:endParaRPr lang="en-US" sz="2775" dirty="0"/>
          </a:p>
        </p:txBody>
      </p:sp>
      <p:sp>
        <p:nvSpPr>
          <p:cNvPr id="9" name="Text 7"/>
          <p:cNvSpPr/>
          <p:nvPr/>
        </p:nvSpPr>
        <p:spPr>
          <a:xfrm>
            <a:off x="885825" y="1694938"/>
            <a:ext cx="1522143" cy="46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75" b="1" dirty="0">
                <a:solidFill>
                  <a:srgbClr val="B85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Abraham</a:t>
            </a:r>
            <a:endParaRPr lang="en-US" sz="2775" dirty="0"/>
          </a:p>
        </p:txBody>
      </p:sp>
      <p:sp>
        <p:nvSpPr>
          <p:cNvPr id="10" name="Text 8"/>
          <p:cNvSpPr/>
          <p:nvPr/>
        </p:nvSpPr>
        <p:spPr>
          <a:xfrm>
            <a:off x="8201025" y="1694938"/>
            <a:ext cx="1267944" cy="46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75" b="1" dirty="0">
                <a:solidFill>
                  <a:srgbClr val="B85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Kanaan</a:t>
            </a:r>
            <a:endParaRPr lang="en-US" sz="2775" dirty="0"/>
          </a:p>
        </p:txBody>
      </p:sp>
      <p:sp>
        <p:nvSpPr>
          <p:cNvPr id="11" name="Text 9"/>
          <p:cNvSpPr/>
          <p:nvPr/>
        </p:nvSpPr>
        <p:spPr>
          <a:xfrm>
            <a:off x="4543425" y="2267331"/>
            <a:ext cx="2940177" cy="3259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wyjście z Egiptu, Synaj i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885825" y="2438781"/>
            <a:ext cx="2673477" cy="3259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przymierze i początek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8201025" y="2438781"/>
            <a:ext cx="2863977" cy="3259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ziemia, w której według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4543425" y="2572131"/>
            <a:ext cx="1035177" cy="3259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Dekalog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885825" y="2743581"/>
            <a:ext cx="1568577" cy="3259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dziejów rodu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8201025" y="2743581"/>
            <a:ext cx="2349626" cy="3259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tradycji osiedlili się</a:t>
            </a:r>
            <a:endParaRPr lang="en-US" sz="1875" dirty="0"/>
          </a:p>
        </p:txBody>
      </p:sp>
      <p:sp>
        <p:nvSpPr>
          <p:cNvPr id="17" name="Text 15"/>
          <p:cNvSpPr/>
          <p:nvPr/>
        </p:nvSpPr>
        <p:spPr>
          <a:xfrm>
            <a:off x="8201025" y="3048381"/>
            <a:ext cx="978027" cy="32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Izraelici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1371600" y="4914388"/>
            <a:ext cx="1006602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Ważne: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381250" y="4914388"/>
            <a:ext cx="8493252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opowieści kształtujące pamięć wspólnoty; nie mają jednej bezspornej,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5206985"/>
            <a:ext cx="1825752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dokładnej daty.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EBDD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45655" y="4009132"/>
            <a:ext cx="9182100" cy="647700"/>
          </a:xfrm>
          <a:prstGeom prst="rect">
            <a:avLst/>
          </a:prstGeom>
          <a:solidFill>
            <a:srgbClr val="243447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409956"/>
            <a:ext cx="7758042" cy="6294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43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Od królestwa do dwóch państw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85825" y="1523488"/>
            <a:ext cx="1616649" cy="33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B85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ok. X w. p.n.e.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4543425" y="1523488"/>
            <a:ext cx="1001542" cy="33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B85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tradycja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8201025" y="1523488"/>
            <a:ext cx="1552206" cy="33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B85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 Salomonie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885825" y="2534031"/>
            <a:ext cx="1111377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Dawid</a:t>
            </a:r>
            <a:endParaRPr lang="en-US" sz="2325" dirty="0"/>
          </a:p>
        </p:txBody>
      </p:sp>
      <p:sp>
        <p:nvSpPr>
          <p:cNvPr id="9" name="Text 7"/>
          <p:cNvSpPr/>
          <p:nvPr/>
        </p:nvSpPr>
        <p:spPr>
          <a:xfrm>
            <a:off x="4543425" y="2534031"/>
            <a:ext cx="1501902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Salomon</a:t>
            </a:r>
            <a:endParaRPr lang="en-US" sz="2325" dirty="0"/>
          </a:p>
        </p:txBody>
      </p:sp>
      <p:sp>
        <p:nvSpPr>
          <p:cNvPr id="10" name="Text 8"/>
          <p:cNvSpPr/>
          <p:nvPr/>
        </p:nvSpPr>
        <p:spPr>
          <a:xfrm>
            <a:off x="8201025" y="2534031"/>
            <a:ext cx="1292352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Podział</a:t>
            </a:r>
            <a:endParaRPr lang="en-US" sz="2325" dirty="0"/>
          </a:p>
        </p:txBody>
      </p:sp>
      <p:sp>
        <p:nvSpPr>
          <p:cNvPr id="11" name="Text 9"/>
          <p:cNvSpPr/>
          <p:nvPr/>
        </p:nvSpPr>
        <p:spPr>
          <a:xfrm>
            <a:off x="885825" y="3003584"/>
            <a:ext cx="1959102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Jerozolima stolicą</a:t>
            </a:r>
            <a:endParaRPr lang="en-US" sz="1725" dirty="0"/>
          </a:p>
        </p:txBody>
      </p:sp>
      <p:sp>
        <p:nvSpPr>
          <p:cNvPr id="12" name="Text 10"/>
          <p:cNvSpPr/>
          <p:nvPr/>
        </p:nvSpPr>
        <p:spPr>
          <a:xfrm>
            <a:off x="4543425" y="3003584"/>
            <a:ext cx="2149602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Pierwsza Świątynia</a:t>
            </a:r>
            <a:endParaRPr lang="en-US" sz="1725" dirty="0"/>
          </a:p>
        </p:txBody>
      </p:sp>
      <p:sp>
        <p:nvSpPr>
          <p:cNvPr id="13" name="Text 11"/>
          <p:cNvSpPr/>
          <p:nvPr/>
        </p:nvSpPr>
        <p:spPr>
          <a:xfrm>
            <a:off x="8201025" y="3003584"/>
            <a:ext cx="3044952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Izrael na północy • Juda na</a:t>
            </a:r>
            <a:endParaRPr lang="en-US" sz="1725" dirty="0"/>
          </a:p>
        </p:txBody>
      </p:sp>
      <p:sp>
        <p:nvSpPr>
          <p:cNvPr id="14" name="Text 12"/>
          <p:cNvSpPr/>
          <p:nvPr/>
        </p:nvSpPr>
        <p:spPr>
          <a:xfrm>
            <a:off x="8201025" y="3275195"/>
            <a:ext cx="1044702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południu</a:t>
            </a:r>
            <a:endParaRPr lang="en-US" sz="1725" dirty="0"/>
          </a:p>
        </p:txBody>
      </p:sp>
      <p:sp>
        <p:nvSpPr>
          <p:cNvPr id="15" name="Text 13"/>
          <p:cNvSpPr/>
          <p:nvPr/>
        </p:nvSpPr>
        <p:spPr>
          <a:xfrm>
            <a:off x="2488555" y="4180963"/>
            <a:ext cx="7140702" cy="32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Dlaczego stolica i Świątynia wzmacniały wspólnotę?</a:t>
            </a:r>
            <a:endParaRPr lang="en-US" sz="18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3447"/>
          </a:solidFill>
          <a:ln w="127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1361182"/>
            <a:ext cx="2721769" cy="3381375"/>
          </a:xfrm>
          <a:prstGeom prst="rect">
            <a:avLst/>
          </a:prstGeom>
          <a:solidFill>
            <a:srgbClr val="FFFFFF">
              <a:alpha val="7000"/>
            </a:srgbClr>
          </a:solidFill>
          <a:ln w="57150">
            <a:solidFill>
              <a:srgbClr val="B852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110288" y="1361182"/>
            <a:ext cx="2721769" cy="3381375"/>
          </a:xfrm>
          <a:prstGeom prst="rect">
            <a:avLst/>
          </a:prstGeom>
          <a:solidFill>
            <a:srgbClr val="FFFFFF">
              <a:alpha val="7000"/>
            </a:srgbClr>
          </a:solidFill>
          <a:ln w="57150">
            <a:solidFill>
              <a:srgbClr val="6572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60631" y="1361182"/>
            <a:ext cx="2721769" cy="3381375"/>
          </a:xfrm>
          <a:prstGeom prst="rect">
            <a:avLst/>
          </a:prstGeom>
          <a:solidFill>
            <a:srgbClr val="FFFFFF">
              <a:alpha val="7000"/>
            </a:srgbClr>
          </a:solidFill>
          <a:ln w="571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59944" y="1361182"/>
            <a:ext cx="2721769" cy="3381375"/>
          </a:xfrm>
          <a:prstGeom prst="rect">
            <a:avLst/>
          </a:prstGeom>
          <a:solidFill>
            <a:srgbClr val="FFFFFF">
              <a:alpha val="7000"/>
            </a:srgbClr>
          </a:solidFill>
          <a:ln w="57150">
            <a:solidFill>
              <a:srgbClr val="C89C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9600" y="409956"/>
            <a:ext cx="10141524" cy="6294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Utrata państwa — zachowanie wspólnoty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38200" y="1723513"/>
            <a:ext cx="1193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722 p.n.e.</a:t>
            </a:r>
            <a:endParaRPr lang="en-US" sz="2175" dirty="0"/>
          </a:p>
        </p:txBody>
      </p:sp>
      <p:sp>
        <p:nvSpPr>
          <p:cNvPr id="9" name="Text 7"/>
          <p:cNvSpPr/>
          <p:nvPr/>
        </p:nvSpPr>
        <p:spPr>
          <a:xfrm>
            <a:off x="3588544" y="1723513"/>
            <a:ext cx="1684663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587/586 p.n.e.</a:t>
            </a:r>
            <a:endParaRPr lang="en-US" sz="2175" dirty="0"/>
          </a:p>
        </p:txBody>
      </p:sp>
      <p:sp>
        <p:nvSpPr>
          <p:cNvPr id="10" name="Text 8"/>
          <p:cNvSpPr/>
          <p:nvPr/>
        </p:nvSpPr>
        <p:spPr>
          <a:xfrm>
            <a:off x="6338888" y="1723513"/>
            <a:ext cx="1193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wygnanie</a:t>
            </a:r>
            <a:endParaRPr lang="en-US" sz="2175" dirty="0"/>
          </a:p>
        </p:txBody>
      </p:sp>
      <p:sp>
        <p:nvSpPr>
          <p:cNvPr id="11" name="Text 9"/>
          <p:cNvSpPr/>
          <p:nvPr/>
        </p:nvSpPr>
        <p:spPr>
          <a:xfrm>
            <a:off x="9089232" y="1723513"/>
            <a:ext cx="204557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 539/538 p.n.e.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838200" y="2330137"/>
            <a:ext cx="2178177" cy="280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E9EF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Asyria podbija Izrael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3588544" y="2330137"/>
            <a:ext cx="2263902" cy="280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E9EF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Babilończycy niszczą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338888" y="2330137"/>
            <a:ext cx="2092452" cy="280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E9EF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część ludności Judy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089232" y="2330137"/>
            <a:ext cx="1863852" cy="280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E9EF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pod panowaniem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3588544" y="2598325"/>
            <a:ext cx="2263902" cy="280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E9EF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Jerozolimę i Pierwszą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338888" y="2598325"/>
            <a:ext cx="1901952" cy="280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E9EF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trafia do Babilonii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089232" y="2598325"/>
            <a:ext cx="1454277" cy="280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E9EF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Persów część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3588544" y="2866513"/>
            <a:ext cx="1092327" cy="280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E9EF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Świątynię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089232" y="2866513"/>
            <a:ext cx="1987677" cy="280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E9EF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wygnańców wraca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EBDD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9650" y="4368403"/>
            <a:ext cx="10172701" cy="597397"/>
          </a:xfrm>
          <a:prstGeom prst="rect">
            <a:avLst/>
          </a:prstGeom>
          <a:solidFill>
            <a:srgbClr val="EADFCA"/>
          </a:solidFill>
          <a:ln w="50800">
            <a:solidFill>
              <a:srgbClr val="24344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409956"/>
            <a:ext cx="7136386" cy="6294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43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Obce panowanie i powstania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85825" y="1523488"/>
            <a:ext cx="1116437" cy="33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B85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167 p.n.e.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4543425" y="1523488"/>
            <a:ext cx="1166146" cy="33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B85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66–73 n.e.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8201025" y="1523488"/>
            <a:ext cx="1423321" cy="33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B85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132–135 n.e.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885825" y="2534031"/>
            <a:ext cx="2311527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Machabeusze</a:t>
            </a:r>
            <a:endParaRPr lang="en-US" sz="2325" dirty="0"/>
          </a:p>
        </p:txBody>
      </p:sp>
      <p:sp>
        <p:nvSpPr>
          <p:cNvPr id="9" name="Text 7"/>
          <p:cNvSpPr/>
          <p:nvPr/>
        </p:nvSpPr>
        <p:spPr>
          <a:xfrm>
            <a:off x="4543425" y="2534031"/>
            <a:ext cx="3178302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Powstanie przeciw</a:t>
            </a:r>
            <a:endParaRPr lang="en-US" sz="2325" dirty="0"/>
          </a:p>
        </p:txBody>
      </p:sp>
      <p:sp>
        <p:nvSpPr>
          <p:cNvPr id="10" name="Text 8"/>
          <p:cNvSpPr/>
          <p:nvPr/>
        </p:nvSpPr>
        <p:spPr>
          <a:xfrm>
            <a:off x="8201025" y="2534031"/>
            <a:ext cx="1959102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Bar Kochba</a:t>
            </a:r>
            <a:endParaRPr lang="en-US" sz="2325" dirty="0"/>
          </a:p>
        </p:txBody>
      </p:sp>
      <p:sp>
        <p:nvSpPr>
          <p:cNvPr id="11" name="Text 9"/>
          <p:cNvSpPr/>
          <p:nvPr/>
        </p:nvSpPr>
        <p:spPr>
          <a:xfrm>
            <a:off x="4543425" y="2917859"/>
            <a:ext cx="1549527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Rzymowi</a:t>
            </a:r>
            <a:endParaRPr lang="en-US" sz="2325" dirty="0"/>
          </a:p>
        </p:txBody>
      </p:sp>
      <p:sp>
        <p:nvSpPr>
          <p:cNvPr id="12" name="Text 10"/>
          <p:cNvSpPr/>
          <p:nvPr/>
        </p:nvSpPr>
        <p:spPr>
          <a:xfrm>
            <a:off x="885825" y="3003584"/>
            <a:ext cx="2644902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sprzeciw wobec władzy</a:t>
            </a:r>
            <a:endParaRPr lang="en-US" sz="1725" dirty="0"/>
          </a:p>
        </p:txBody>
      </p:sp>
      <p:sp>
        <p:nvSpPr>
          <p:cNvPr id="13" name="Text 11"/>
          <p:cNvSpPr/>
          <p:nvPr/>
        </p:nvSpPr>
        <p:spPr>
          <a:xfrm>
            <a:off x="8201025" y="3003584"/>
            <a:ext cx="2797302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klęska i nasilone represje</a:t>
            </a:r>
            <a:endParaRPr lang="en-US" sz="1725" dirty="0"/>
          </a:p>
        </p:txBody>
      </p:sp>
      <p:sp>
        <p:nvSpPr>
          <p:cNvPr id="14" name="Text 12"/>
          <p:cNvSpPr/>
          <p:nvPr/>
        </p:nvSpPr>
        <p:spPr>
          <a:xfrm>
            <a:off x="885825" y="3275195"/>
            <a:ext cx="1397127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Seleucydów</a:t>
            </a:r>
            <a:endParaRPr lang="en-US" sz="1725" dirty="0"/>
          </a:p>
        </p:txBody>
      </p:sp>
      <p:sp>
        <p:nvSpPr>
          <p:cNvPr id="15" name="Text 13"/>
          <p:cNvSpPr/>
          <p:nvPr/>
        </p:nvSpPr>
        <p:spPr>
          <a:xfrm>
            <a:off x="4543425" y="3387412"/>
            <a:ext cx="2435352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70 n.e. — zniszczenie</a:t>
            </a:r>
            <a:endParaRPr lang="en-US" sz="1725" dirty="0"/>
          </a:p>
        </p:txBody>
      </p:sp>
      <p:sp>
        <p:nvSpPr>
          <p:cNvPr id="16" name="Text 14"/>
          <p:cNvSpPr/>
          <p:nvPr/>
        </p:nvSpPr>
        <p:spPr>
          <a:xfrm>
            <a:off x="4543425" y="3659023"/>
            <a:ext cx="1863852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Drugiej Świątyni</a:t>
            </a:r>
            <a:endParaRPr lang="en-US" sz="1725" dirty="0"/>
          </a:p>
        </p:txBody>
      </p:sp>
      <p:sp>
        <p:nvSpPr>
          <p:cNvPr id="17" name="Text 15"/>
          <p:cNvSpPr/>
          <p:nvPr/>
        </p:nvSpPr>
        <p:spPr>
          <a:xfrm>
            <a:off x="1323975" y="4521184"/>
            <a:ext cx="8893302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Kolejne podboje i rozproszenie nie zakończyły istnienia wspólnoty ani religii.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8523A"/>
          </a:solidFill>
          <a:ln w="127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428875"/>
            <a:ext cx="10972800" cy="2264123"/>
          </a:xfrm>
          <a:prstGeom prst="rect">
            <a:avLst/>
          </a:prstGeom>
          <a:solidFill>
            <a:srgbClr val="FFFDF8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1157222"/>
            <a:ext cx="7718900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Uporządkuj sześć wydarzeń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371725" y="2705481"/>
            <a:ext cx="5388102" cy="370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B85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Pracujcie w parach. Macie 6 minut.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2981325" y="3247513"/>
            <a:ext cx="4911852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Wpiszcie kolejność wydarzeń z zadania 1.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981325" y="3640568"/>
            <a:ext cx="5721477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Wybierzcie jedno przejście i wyjaśnijcie związek: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05850" y="3640568"/>
            <a:ext cx="2492502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wydarzenie → skutek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125200" y="3640568"/>
            <a:ext cx="149352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981325" y="4033623"/>
            <a:ext cx="6693028" cy="31470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Zaznaczcie, które wydarzenia należą do tradycji biblijnej.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138363" y="5182875"/>
            <a:ext cx="7988427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Gotowe: sześć numerów + jedno zdanie przyczynowo‑skutkowe.</a:t>
            </a:r>
            <a:endParaRPr lang="en-US" sz="17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1332607"/>
            <a:ext cx="4419600" cy="1619250"/>
          </a:xfrm>
          <a:prstGeom prst="rect">
            <a:avLst/>
          </a:prstGeom>
          <a:solidFill>
            <a:srgbClr val="FFFFFF">
              <a:alpha val="8000"/>
            </a:srgbClr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238750" y="1332607"/>
            <a:ext cx="4419600" cy="1619250"/>
          </a:xfrm>
          <a:prstGeom prst="rect">
            <a:avLst/>
          </a:prstGeom>
          <a:solidFill>
            <a:srgbClr val="FFFFFF">
              <a:alpha val="8000"/>
            </a:srgbClr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00" y="3094732"/>
            <a:ext cx="4419600" cy="1619250"/>
          </a:xfrm>
          <a:prstGeom prst="rect">
            <a:avLst/>
          </a:prstGeom>
          <a:solidFill>
            <a:srgbClr val="FFFFFF">
              <a:alpha val="8000"/>
            </a:srgbClr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38750" y="3094732"/>
            <a:ext cx="4419600" cy="1619250"/>
          </a:xfrm>
          <a:prstGeom prst="rect">
            <a:avLst/>
          </a:prstGeom>
          <a:solidFill>
            <a:srgbClr val="FFFFFF">
              <a:alpha val="8000"/>
            </a:srgbClr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39025" y="5302449"/>
            <a:ext cx="4133850" cy="926902"/>
          </a:xfrm>
          <a:prstGeom prst="rect">
            <a:avLst/>
          </a:prstGeom>
          <a:solidFill>
            <a:srgbClr val="FFFDF8"/>
          </a:solidFill>
          <a:ln w="31750">
            <a:solidFill>
              <a:srgbClr val="C89C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9600" y="409956"/>
            <a:ext cx="8036945" cy="6294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Judaizm — religia jednego Boga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42975" y="1561588"/>
            <a:ext cx="1844802" cy="3933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monoteizm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5572125" y="1561588"/>
            <a:ext cx="1844802" cy="3933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przymierze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42975" y="2009263"/>
            <a:ext cx="2378202" cy="280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EDF1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wiara w jednego Boga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572125" y="2009263"/>
            <a:ext cx="3768853" cy="280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EDF1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szczególna więź Boga i ludu Izraela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42975" y="3323713"/>
            <a:ext cx="1073277" cy="3933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prawo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5572125" y="3323713"/>
            <a:ext cx="1216152" cy="3933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pamięć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42975" y="3771388"/>
            <a:ext cx="3664077" cy="280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EDF1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zasady życia jednostki i wspólnoty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572125" y="3771388"/>
            <a:ext cx="3159252" cy="280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EDF1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opowieści, święta i nauczanie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5572125" y="4031093"/>
            <a:ext cx="2549652" cy="280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EDF1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podtrzymują tożsamość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648575" y="5521904"/>
            <a:ext cx="3368802" cy="280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politeizm = wielu bogów •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648575" y="5790093"/>
            <a:ext cx="2921127" cy="280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monoteizm = jeden Bóg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EBDD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1042" y="1320701"/>
            <a:ext cx="6101358" cy="4930081"/>
          </a:xfrm>
          <a:prstGeom prst="rect">
            <a:avLst/>
          </a:prstGeom>
          <a:solidFill>
            <a:srgbClr val="FFFFFF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00" y="1595438"/>
            <a:ext cx="4509493" cy="4380607"/>
          </a:xfrm>
          <a:prstGeom prst="rect">
            <a:avLst/>
          </a:prstGeom>
          <a:solidFill>
            <a:srgbClr val="FFFDF8"/>
          </a:solidFill>
          <a:ln w="63500">
            <a:solidFill>
              <a:srgbClr val="243447"/>
            </a:solidFill>
            <a:prstDash val="solid"/>
          </a:ln>
        </p:spPr>
      </p:sp>
      <p:pic>
        <p:nvPicPr>
          <p:cNvPr id="5" name="Image 0" descr="Otwarty zwój Tory zapisany alfabetem hebrajskim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95342" y="1625501"/>
            <a:ext cx="5579120" cy="40957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9600" y="409956"/>
            <a:ext cx="5597652" cy="6294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43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Tora, prorocy, Mesjasz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1333500" y="2033969"/>
            <a:ext cx="711327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Tora: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2047875" y="2033969"/>
            <a:ext cx="2597277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pięć pierwszych ksiąg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333500" y="2326565"/>
            <a:ext cx="2559177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Biblii hebrajskiej oraz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333500" y="2619161"/>
            <a:ext cx="3206877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zawarte w nich nauczanie i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333500" y="2911757"/>
            <a:ext cx="863727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prawo.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333500" y="3347228"/>
            <a:ext cx="1159002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Prorocy: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2495550" y="3347228"/>
            <a:ext cx="1349502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wzywali do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333500" y="3639824"/>
            <a:ext cx="1901952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wierności Bogu,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333500" y="3932420"/>
            <a:ext cx="3111627" cy="31470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sprawiedliwości i poprawy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333500" y="4225016"/>
            <a:ext cx="1759077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postępowania.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333500" y="4660488"/>
            <a:ext cx="1178052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Mesjasz: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2514600" y="4660488"/>
            <a:ext cx="1416177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oczekiwany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333500" y="4953083"/>
            <a:ext cx="2854452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„pomazaniec”, z którym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333500" y="5245680"/>
            <a:ext cx="3492627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wiązano nadzieję na odnowę.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595342" y="5893082"/>
            <a:ext cx="4445127" cy="269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E62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Zwój Tory. Fot. Lewrie Cate, CC BY 2.0, za ZPE.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9DFCE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1170682"/>
            <a:ext cx="8382000" cy="5573911"/>
          </a:xfrm>
          <a:prstGeom prst="rect">
            <a:avLst/>
          </a:prstGeom>
          <a:solidFill>
            <a:srgbClr val="FFFFFF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pic>
        <p:nvPicPr>
          <p:cNvPr id="4" name="Image 0" descr="Schemat funkcji i chronologii Świątyni Jerozolimskiej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742950" y="1494532"/>
            <a:ext cx="7709446" cy="44767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9600" y="409956"/>
            <a:ext cx="6811197" cy="6294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43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Świątynia — centrum kultu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42950" y="6143113"/>
            <a:ext cx="7502653" cy="269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E62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Schemat autorski — pokazuje funkcje i chronologię, nie rekonstruuje wyglądu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42950" y="6367844"/>
            <a:ext cx="882777" cy="269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E62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budowli.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EBDD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1042" y="1290638"/>
            <a:ext cx="6101358" cy="5011936"/>
          </a:xfrm>
          <a:prstGeom prst="rect">
            <a:avLst/>
          </a:prstGeom>
          <a:solidFill>
            <a:srgbClr val="FFFFFF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00" y="1977331"/>
            <a:ext cx="4509493" cy="3638550"/>
          </a:xfrm>
          <a:prstGeom prst="rect">
            <a:avLst/>
          </a:prstGeom>
          <a:solidFill>
            <a:srgbClr val="FFFDF8"/>
          </a:solidFill>
          <a:ln w="63500">
            <a:solidFill>
              <a:srgbClr val="243447"/>
            </a:solidFill>
            <a:prstDash val="solid"/>
          </a:ln>
        </p:spPr>
      </p:sp>
      <p:pic>
        <p:nvPicPr>
          <p:cNvPr id="5" name="Image 0" descr="Współczesny widok Zachodniego Muru w Jerozolimi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95342" y="1595438"/>
            <a:ext cx="5579120" cy="39528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9600" y="409956"/>
            <a:ext cx="9521059" cy="6294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43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 pozostało po kompleksie Świątyni?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1066800" y="2272987"/>
            <a:ext cx="2940177" cy="3259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Druga Świątynia została</a:t>
            </a:r>
            <a:endParaRPr lang="en-US" sz="1875" dirty="0"/>
          </a:p>
        </p:txBody>
      </p:sp>
      <p:sp>
        <p:nvSpPr>
          <p:cNvPr id="8" name="Text 5"/>
          <p:cNvSpPr/>
          <p:nvPr/>
        </p:nvSpPr>
        <p:spPr>
          <a:xfrm>
            <a:off x="1066800" y="2577787"/>
            <a:ext cx="3435477" cy="32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zniszczona przez Rzymian w</a:t>
            </a:r>
            <a:endParaRPr lang="en-US" sz="1875" dirty="0"/>
          </a:p>
        </p:txBody>
      </p:sp>
      <p:sp>
        <p:nvSpPr>
          <p:cNvPr id="9" name="Text 6"/>
          <p:cNvSpPr/>
          <p:nvPr/>
        </p:nvSpPr>
        <p:spPr>
          <a:xfrm>
            <a:off x="1066800" y="2882586"/>
            <a:ext cx="1263777" cy="32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70 r. n.e.</a:t>
            </a:r>
            <a:endParaRPr lang="en-US" sz="1875" dirty="0"/>
          </a:p>
        </p:txBody>
      </p:sp>
      <p:sp>
        <p:nvSpPr>
          <p:cNvPr id="10" name="Text 7"/>
          <p:cNvSpPr/>
          <p:nvPr/>
        </p:nvSpPr>
        <p:spPr>
          <a:xfrm>
            <a:off x="1066800" y="3339787"/>
            <a:ext cx="1921002" cy="32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Zachodni Mur</a:t>
            </a:r>
            <a:endParaRPr lang="en-US" sz="1875" dirty="0"/>
          </a:p>
        </p:txBody>
      </p:sp>
      <p:sp>
        <p:nvSpPr>
          <p:cNvPr id="11" name="Text 8"/>
          <p:cNvSpPr/>
          <p:nvPr/>
        </p:nvSpPr>
        <p:spPr>
          <a:xfrm>
            <a:off x="2990850" y="3339787"/>
            <a:ext cx="1444752" cy="32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jest częścią</a:t>
            </a:r>
            <a:endParaRPr lang="en-US" sz="1875" dirty="0"/>
          </a:p>
        </p:txBody>
      </p:sp>
      <p:sp>
        <p:nvSpPr>
          <p:cNvPr id="12" name="Text 9"/>
          <p:cNvSpPr/>
          <p:nvPr/>
        </p:nvSpPr>
        <p:spPr>
          <a:xfrm>
            <a:off x="1066800" y="3644587"/>
            <a:ext cx="3225927" cy="3259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muru oporowego dawnego</a:t>
            </a:r>
            <a:endParaRPr lang="en-US" sz="1875" dirty="0"/>
          </a:p>
        </p:txBody>
      </p:sp>
      <p:sp>
        <p:nvSpPr>
          <p:cNvPr id="13" name="Text 10"/>
          <p:cNvSpPr/>
          <p:nvPr/>
        </p:nvSpPr>
        <p:spPr>
          <a:xfrm>
            <a:off x="1066800" y="3949387"/>
            <a:ext cx="2435352" cy="3259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kompleksu Wzgórza</a:t>
            </a:r>
            <a:endParaRPr lang="en-US" sz="1875" dirty="0"/>
          </a:p>
        </p:txBody>
      </p:sp>
      <p:sp>
        <p:nvSpPr>
          <p:cNvPr id="14" name="Text 11"/>
          <p:cNvSpPr/>
          <p:nvPr/>
        </p:nvSpPr>
        <p:spPr>
          <a:xfrm>
            <a:off x="1066800" y="4254187"/>
            <a:ext cx="1682877" cy="3259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Świątynnego.</a:t>
            </a:r>
            <a:endParaRPr lang="en-US" sz="1875" dirty="0"/>
          </a:p>
        </p:txBody>
      </p:sp>
      <p:sp>
        <p:nvSpPr>
          <p:cNvPr id="15" name="Text 12"/>
          <p:cNvSpPr/>
          <p:nvPr/>
        </p:nvSpPr>
        <p:spPr>
          <a:xfrm>
            <a:off x="1066800" y="4711387"/>
            <a:ext cx="3197352" cy="3259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B85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 jest ścianą samego</a:t>
            </a:r>
            <a:endParaRPr lang="en-US" sz="1875" dirty="0"/>
          </a:p>
        </p:txBody>
      </p:sp>
      <p:sp>
        <p:nvSpPr>
          <p:cNvPr id="16" name="Text 13"/>
          <p:cNvSpPr/>
          <p:nvPr/>
        </p:nvSpPr>
        <p:spPr>
          <a:xfrm>
            <a:off x="1066800" y="5016187"/>
            <a:ext cx="2587752" cy="3259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B85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budynku Świątyni.</a:t>
            </a:r>
            <a:endParaRPr lang="en-US" sz="1875" dirty="0"/>
          </a:p>
        </p:txBody>
      </p:sp>
      <p:sp>
        <p:nvSpPr>
          <p:cNvPr id="17" name="Text 14"/>
          <p:cNvSpPr/>
          <p:nvPr/>
        </p:nvSpPr>
        <p:spPr>
          <a:xfrm>
            <a:off x="5595342" y="5720144"/>
            <a:ext cx="5835777" cy="269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E62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Zachodni Mur w Jerozolimie. Fot. Sheepdog85, CC BY-SA 3.0,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5595342" y="5944875"/>
            <a:ext cx="778002" cy="269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E62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 ZPE.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D3A"/>
          </a:solidFill>
          <a:ln w="127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92501" y="1557338"/>
            <a:ext cx="3606850" cy="4117777"/>
          </a:xfrm>
          <a:prstGeom prst="rect">
            <a:avLst/>
          </a:prstGeom>
          <a:solidFill>
            <a:srgbClr val="FFFFFF">
              <a:alpha val="8000"/>
            </a:srgbClr>
          </a:solidFill>
          <a:ln w="44450">
            <a:solidFill>
              <a:srgbClr val="B852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75550" y="1557338"/>
            <a:ext cx="3606701" cy="4117777"/>
          </a:xfrm>
          <a:prstGeom prst="rect">
            <a:avLst/>
          </a:prstGeom>
          <a:solidFill>
            <a:srgbClr val="FFFFFF">
              <a:alpha val="8000"/>
            </a:srgbClr>
          </a:solidFill>
          <a:ln w="44450">
            <a:solidFill>
              <a:srgbClr val="6572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600" y="1557338"/>
            <a:ext cx="3606701" cy="4117777"/>
          </a:xfrm>
          <a:prstGeom prst="rect">
            <a:avLst/>
          </a:prstGeom>
          <a:solidFill>
            <a:srgbClr val="FFFFFF">
              <a:alpha val="8000"/>
            </a:srgbClr>
          </a:solidFill>
          <a:ln w="44450">
            <a:solidFill>
              <a:srgbClr val="C89C3D"/>
            </a:solidFill>
            <a:prstDash val="solid"/>
          </a:ln>
        </p:spPr>
      </p:sp>
      <p:pic>
        <p:nvPicPr>
          <p:cNvPr id="6" name="Image 0" descr="Menor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0100" y="2005013"/>
            <a:ext cx="3064372" cy="2333625"/>
          </a:xfrm>
          <a:prstGeom prst="rect">
            <a:avLst/>
          </a:prstGeom>
        </p:spPr>
      </p:pic>
      <p:pic>
        <p:nvPicPr>
          <p:cNvPr id="7" name="Image 1" descr="Zwój Tory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83001" y="2005013"/>
            <a:ext cx="3064520" cy="2333625"/>
          </a:xfrm>
          <a:prstGeom prst="rect">
            <a:avLst/>
          </a:prstGeom>
        </p:spPr>
      </p:pic>
      <p:pic>
        <p:nvPicPr>
          <p:cNvPr id="8" name="Image 2" descr="Gwiazda Dawida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66051" y="2005013"/>
            <a:ext cx="3064371" cy="233362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09600" y="409956"/>
            <a:ext cx="7269736" cy="6294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Rozpoznaj symbole judaizmu</a:t>
            </a:r>
            <a:endParaRPr lang="en-US" sz="3600" dirty="0"/>
          </a:p>
        </p:txBody>
      </p:sp>
      <p:sp>
        <p:nvSpPr>
          <p:cNvPr id="10" name="Text 5"/>
          <p:cNvSpPr/>
          <p:nvPr/>
        </p:nvSpPr>
        <p:spPr>
          <a:xfrm>
            <a:off x="800100" y="4737134"/>
            <a:ext cx="892302" cy="269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Menora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4483001" y="4737134"/>
            <a:ext cx="539877" cy="269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Tora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8166051" y="4737134"/>
            <a:ext cx="1844802" cy="269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Gwiazda Dawida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800100" y="4961865"/>
            <a:ext cx="2702052" cy="269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siedmioramienny świecznik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4483001" y="4961865"/>
            <a:ext cx="1806702" cy="269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nauczanie i prawo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166051" y="4961865"/>
            <a:ext cx="2406777" cy="269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symbol upowszechniony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800100" y="5186595"/>
            <a:ext cx="2225802" cy="269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związany ze Świątynią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8166051" y="5186595"/>
            <a:ext cx="1673352" cy="269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znacznie później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09600" y="5966900"/>
            <a:ext cx="5340477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DAE1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ZPE: Contentplus.pl, CC BY 3.0; Lewrie Cate, CC BY 2.0.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3447"/>
          </a:solidFill>
          <a:ln w="127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95412" y="5293817"/>
            <a:ext cx="9401175" cy="616446"/>
          </a:xfrm>
          <a:prstGeom prst="rect">
            <a:avLst/>
          </a:prstGeom>
          <a:solidFill>
            <a:srgbClr val="FFFDF8"/>
          </a:solidFill>
          <a:ln w="50800">
            <a:solidFill>
              <a:srgbClr val="24344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900345"/>
            <a:ext cx="6612511" cy="6294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do następnej historii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6775" y="2175802"/>
            <a:ext cx="216027" cy="370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C89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4533900" y="2175802"/>
            <a:ext cx="216027" cy="370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C89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8201025" y="2175802"/>
            <a:ext cx="216027" cy="370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C89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866775" y="3223552"/>
            <a:ext cx="1063752" cy="438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7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Judea</a:t>
            </a:r>
            <a:endParaRPr lang="en-US" sz="2475" dirty="0"/>
          </a:p>
        </p:txBody>
      </p:sp>
      <p:sp>
        <p:nvSpPr>
          <p:cNvPr id="9" name="Text 7"/>
          <p:cNvSpPr/>
          <p:nvPr/>
        </p:nvSpPr>
        <p:spPr>
          <a:xfrm>
            <a:off x="4533900" y="3223552"/>
            <a:ext cx="2502027" cy="438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7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Miasta i drogi</a:t>
            </a:r>
            <a:endParaRPr lang="en-US" sz="2475" dirty="0"/>
          </a:p>
        </p:txBody>
      </p:sp>
      <p:sp>
        <p:nvSpPr>
          <p:cNvPr id="10" name="Text 8"/>
          <p:cNvSpPr/>
          <p:nvPr/>
        </p:nvSpPr>
        <p:spPr>
          <a:xfrm>
            <a:off x="8201025" y="3223552"/>
            <a:ext cx="1149477" cy="438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7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Morze</a:t>
            </a:r>
            <a:endParaRPr lang="en-US" sz="2475" dirty="0"/>
          </a:p>
        </p:txBody>
      </p:sp>
      <p:sp>
        <p:nvSpPr>
          <p:cNvPr id="11" name="Text 9"/>
          <p:cNvSpPr/>
          <p:nvPr/>
        </p:nvSpPr>
        <p:spPr>
          <a:xfrm>
            <a:off x="8201025" y="3632085"/>
            <a:ext cx="2159126" cy="4383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7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Śródziemne</a:t>
            </a:r>
            <a:endParaRPr lang="en-US" sz="2475" dirty="0"/>
          </a:p>
        </p:txBody>
      </p:sp>
      <p:sp>
        <p:nvSpPr>
          <p:cNvPr id="12" name="Text 10"/>
          <p:cNvSpPr/>
          <p:nvPr/>
        </p:nvSpPr>
        <p:spPr>
          <a:xfrm>
            <a:off x="866775" y="3746385"/>
            <a:ext cx="2911602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E8EE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Chrześcijaństwo narodziło</a:t>
            </a:r>
            <a:endParaRPr lang="en-US" sz="1725" dirty="0"/>
          </a:p>
        </p:txBody>
      </p:sp>
      <p:sp>
        <p:nvSpPr>
          <p:cNvPr id="13" name="Text 11"/>
          <p:cNvSpPr/>
          <p:nvPr/>
        </p:nvSpPr>
        <p:spPr>
          <a:xfrm>
            <a:off x="4533900" y="3746385"/>
            <a:ext cx="2482977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E8EE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Uczniowie Jezusa oraz</a:t>
            </a:r>
            <a:endParaRPr lang="en-US" sz="1725" dirty="0"/>
          </a:p>
        </p:txBody>
      </p:sp>
      <p:sp>
        <p:nvSpPr>
          <p:cNvPr id="14" name="Text 12"/>
          <p:cNvSpPr/>
          <p:nvPr/>
        </p:nvSpPr>
        <p:spPr>
          <a:xfrm>
            <a:off x="866775" y="4024545"/>
            <a:ext cx="3178302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E8EE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się w środowisku żydowskim</a:t>
            </a:r>
            <a:endParaRPr lang="en-US" sz="1725" dirty="0"/>
          </a:p>
        </p:txBody>
      </p:sp>
      <p:sp>
        <p:nvSpPr>
          <p:cNvPr id="15" name="Text 13"/>
          <p:cNvSpPr/>
          <p:nvPr/>
        </p:nvSpPr>
        <p:spPr>
          <a:xfrm>
            <a:off x="4533900" y="4024545"/>
            <a:ext cx="2092452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E8EE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pierwsi misjonarze</a:t>
            </a:r>
            <a:endParaRPr lang="en-US" sz="1725" dirty="0"/>
          </a:p>
        </p:txBody>
      </p:sp>
      <p:sp>
        <p:nvSpPr>
          <p:cNvPr id="16" name="Text 14"/>
          <p:cNvSpPr/>
          <p:nvPr/>
        </p:nvSpPr>
        <p:spPr>
          <a:xfrm>
            <a:off x="8201025" y="4154918"/>
            <a:ext cx="2702052" cy="292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E8EE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 I–III w. n.e. wspólnoty</a:t>
            </a:r>
            <a:endParaRPr lang="en-US" sz="1725" dirty="0"/>
          </a:p>
        </p:txBody>
      </p:sp>
      <p:sp>
        <p:nvSpPr>
          <p:cNvPr id="17" name="Text 15"/>
          <p:cNvSpPr/>
          <p:nvPr/>
        </p:nvSpPr>
        <p:spPr>
          <a:xfrm>
            <a:off x="866775" y="4302704"/>
            <a:ext cx="2025777" cy="292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E8EE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 rzymskiej Judei.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4533900" y="4302704"/>
            <a:ext cx="2883027" cy="292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E8EE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przekazywali naukę przez</a:t>
            </a:r>
            <a:endParaRPr lang="en-US" sz="1725" dirty="0"/>
          </a:p>
        </p:txBody>
      </p:sp>
      <p:sp>
        <p:nvSpPr>
          <p:cNvPr id="19" name="Text 17"/>
          <p:cNvSpPr/>
          <p:nvPr/>
        </p:nvSpPr>
        <p:spPr>
          <a:xfrm>
            <a:off x="8201025" y="4433078"/>
            <a:ext cx="3121152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E8EE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pojawiały się od wschodniej</a:t>
            </a:r>
            <a:endParaRPr lang="en-US" sz="1725" dirty="0"/>
          </a:p>
        </p:txBody>
      </p:sp>
      <p:sp>
        <p:nvSpPr>
          <p:cNvPr id="20" name="Text 18"/>
          <p:cNvSpPr/>
          <p:nvPr/>
        </p:nvSpPr>
        <p:spPr>
          <a:xfrm>
            <a:off x="4533900" y="4580865"/>
            <a:ext cx="2816352" cy="292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E8EE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miasta i porty cesarstwa.</a:t>
            </a:r>
            <a:endParaRPr lang="en-US" sz="1725" dirty="0"/>
          </a:p>
        </p:txBody>
      </p:sp>
      <p:sp>
        <p:nvSpPr>
          <p:cNvPr id="21" name="Text 19"/>
          <p:cNvSpPr/>
          <p:nvPr/>
        </p:nvSpPr>
        <p:spPr>
          <a:xfrm>
            <a:off x="8201025" y="4711238"/>
            <a:ext cx="2997327" cy="292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E8EE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części cesarstwa po Rzym.</a:t>
            </a:r>
            <a:endParaRPr lang="en-US" sz="1725" dirty="0"/>
          </a:p>
        </p:txBody>
      </p:sp>
      <p:sp>
        <p:nvSpPr>
          <p:cNvPr id="22" name="Text 20"/>
          <p:cNvSpPr/>
          <p:nvPr/>
        </p:nvSpPr>
        <p:spPr>
          <a:xfrm>
            <a:off x="1700213" y="5456122"/>
            <a:ext cx="8940927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 pomagało nowej religii rozchodzić się między odległymi miastami?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EBDD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1697236"/>
            <a:ext cx="6332190" cy="2749154"/>
          </a:xfrm>
          <a:prstGeom prst="rect">
            <a:avLst/>
          </a:prstGeom>
          <a:solidFill>
            <a:srgbClr val="243447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0890" y="1170682"/>
            <a:ext cx="4221510" cy="3802261"/>
          </a:xfrm>
          <a:prstGeom prst="rect">
            <a:avLst/>
          </a:prstGeom>
          <a:solidFill>
            <a:srgbClr val="FFFFFF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pic>
        <p:nvPicPr>
          <p:cNvPr id="5" name="Image 0" descr="Flaga współczesnego państwa Izrae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13290" y="1513582"/>
            <a:ext cx="3720852" cy="2667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9600" y="409956"/>
            <a:ext cx="8469440" cy="6294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43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Starożytność a współczesny Izrael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1085850" y="2040517"/>
            <a:ext cx="949452" cy="43834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75" b="1" dirty="0">
                <a:solidFill>
                  <a:srgbClr val="9272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1948</a:t>
            </a:r>
            <a:endParaRPr lang="en-US" sz="2475" dirty="0"/>
          </a:p>
        </p:txBody>
      </p:sp>
      <p:sp>
        <p:nvSpPr>
          <p:cNvPr id="8" name="Text 5"/>
          <p:cNvSpPr/>
          <p:nvPr/>
        </p:nvSpPr>
        <p:spPr>
          <a:xfrm>
            <a:off x="2057400" y="2040517"/>
            <a:ext cx="4473702" cy="43834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75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 ogłoszenie niepodległości</a:t>
            </a:r>
            <a:endParaRPr lang="en-US" sz="2475" dirty="0"/>
          </a:p>
        </p:txBody>
      </p:sp>
      <p:sp>
        <p:nvSpPr>
          <p:cNvPr id="9" name="Text 6"/>
          <p:cNvSpPr/>
          <p:nvPr/>
        </p:nvSpPr>
        <p:spPr>
          <a:xfrm>
            <a:off x="1085850" y="2442799"/>
            <a:ext cx="4902327" cy="43834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75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współczesnego państwa Izrael.</a:t>
            </a:r>
            <a:endParaRPr lang="en-US" sz="2475" dirty="0"/>
          </a:p>
        </p:txBody>
      </p:sp>
      <p:sp>
        <p:nvSpPr>
          <p:cNvPr id="10" name="Text 7"/>
          <p:cNvSpPr/>
          <p:nvPr/>
        </p:nvSpPr>
        <p:spPr>
          <a:xfrm>
            <a:off x="1085850" y="3035582"/>
            <a:ext cx="5245227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Leży w tym samym regionie, ale nie jest tym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85850" y="3328178"/>
            <a:ext cx="5511927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samym organizmem politycznym co starożytne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085850" y="3620774"/>
            <a:ext cx="2797302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królestwa Izraela i Judy.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513290" y="4352414"/>
            <a:ext cx="3902202" cy="269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E62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Flaga Izraela. Contentplus.pl, CC BY 3.0,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513290" y="4577144"/>
            <a:ext cx="778002" cy="269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E62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 ZPE.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89C3D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52650" y="0"/>
            <a:ext cx="7886700" cy="685800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24344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90825" y="1754237"/>
            <a:ext cx="6638925" cy="3630215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9272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819400" y="3864620"/>
            <a:ext cx="6591301" cy="1253133"/>
          </a:xfrm>
          <a:prstGeom prst="rect">
            <a:avLst/>
          </a:prstGeom>
          <a:solidFill>
            <a:srgbClr val="FFFDF8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19400" y="2794248"/>
            <a:ext cx="6591301" cy="956072"/>
          </a:xfrm>
          <a:prstGeom prst="rect">
            <a:avLst/>
          </a:prstGeom>
          <a:solidFill>
            <a:srgbClr val="FFFDF8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19400" y="2020937"/>
            <a:ext cx="6591301" cy="659011"/>
          </a:xfrm>
          <a:prstGeom prst="rect">
            <a:avLst/>
          </a:prstGeom>
          <a:solidFill>
            <a:srgbClr val="FFFDF8"/>
          </a:solidFill>
          <a:ln w="1270">
            <a:solidFill>
              <a:srgbClr val="24344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0825" y="726811"/>
            <a:ext cx="3185744" cy="6294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43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Bilet wyjścia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581400" y="2192768"/>
            <a:ext cx="5207127" cy="33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Czym monoteizm różni się od politeizmu?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3581400" y="2966079"/>
            <a:ext cx="4940427" cy="33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Podaj dwa elementy judaizmu i objaśnij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3581400" y="3263140"/>
            <a:ext cx="1625727" cy="33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jeden z nich.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3581400" y="4036451"/>
            <a:ext cx="5340477" cy="33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Gdzie i kiedy narodziło się chrześcijaństwo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3581400" y="4333512"/>
            <a:ext cx="4588002" cy="33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 i w jakim kierunku początkowo się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3581400" y="4630573"/>
            <a:ext cx="2349627" cy="33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rozprzestrzeniało?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3910012" y="5613434"/>
            <a:ext cx="4473702" cy="292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minuty • odpowiedz samodzielnie</a:t>
            </a:r>
            <a:endParaRPr lang="en-US" sz="17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history-lessons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Starożytny Izrael — historia i religia</dc:title>
  <dc:subject>Edytowalna lekcja historii wyeksportowana z prezentacji HTML</dc:subject>
  <dc:creator>Mateusz</dc:creator>
  <cp:lastModifiedBy>Mateusz</cp:lastModifiedBy>
  <cp:revision>1</cp:revision>
  <dcterms:created xsi:type="dcterms:W3CDTF">2026-09-14T18:11:59Z</dcterms:created>
  <dcterms:modified xsi:type="dcterms:W3CDTF">2026-09-14T18:11:59Z</dcterms:modified>
</cp:coreProperties>
</file>