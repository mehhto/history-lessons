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71271" y="0"/>
            <a:ext cx="5120581" cy="6858000"/>
          </a:xfrm>
          <a:prstGeom prst="rect">
            <a:avLst/>
          </a:prstGeom>
          <a:solidFill>
            <a:srgbClr val="091A2A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4686449"/>
            <a:ext cx="5686425" cy="678656"/>
          </a:xfrm>
          <a:prstGeom prst="rect">
            <a:avLst/>
          </a:prstGeom>
          <a:solidFill>
            <a:srgbClr val="000000">
              <a:alpha val="0"/>
            </a:srgbClr>
          </a:solidFill>
          <a:ln w="31750">
            <a:solidFill>
              <a:srgbClr val="FFF8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71271" y="6324601"/>
            <a:ext cx="5120581" cy="533400"/>
          </a:xfrm>
          <a:prstGeom prst="rect">
            <a:avLst/>
          </a:prstGeom>
          <a:solidFill>
            <a:srgbClr val="102A43">
              <a:alpha val="90000"/>
            </a:srgbClr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1578620"/>
            <a:ext cx="2946797" cy="371773"/>
          </a:xfrm>
          <a:prstGeom prst="rect">
            <a:avLst/>
          </a:prstGeom>
          <a:solidFill>
            <a:srgbClr val="D6A83C"/>
          </a:solidFill>
          <a:ln w="127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7" name="Image 0" descr="Fragment Szkoły Ateńskiej Rafaela Santi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71271" y="0"/>
            <a:ext cx="5120581" cy="6858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3425" y="1655201"/>
            <a:ext cx="2772299" cy="23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EUROPA · XIV–XVI WIEK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9600" y="2084124"/>
            <a:ext cx="3990457" cy="8542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Renesans —</a:t>
            </a:r>
            <a:endParaRPr lang="en-US" sz="4875" dirty="0"/>
          </a:p>
        </p:txBody>
      </p:sp>
      <p:sp>
        <p:nvSpPr>
          <p:cNvPr id="10" name="Text 7"/>
          <p:cNvSpPr/>
          <p:nvPr/>
        </p:nvSpPr>
        <p:spPr>
          <a:xfrm>
            <a:off x="609600" y="2678394"/>
            <a:ext cx="5387060" cy="8542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narodziny nowej</a:t>
            </a:r>
            <a:endParaRPr lang="en-US" sz="4875" dirty="0"/>
          </a:p>
        </p:txBody>
      </p:sp>
      <p:sp>
        <p:nvSpPr>
          <p:cNvPr id="11" name="Text 8"/>
          <p:cNvSpPr/>
          <p:nvPr/>
        </p:nvSpPr>
        <p:spPr>
          <a:xfrm>
            <a:off x="609600" y="3272665"/>
            <a:ext cx="1860429" cy="8542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epoki</a:t>
            </a:r>
            <a:endParaRPr lang="en-US" sz="4875" dirty="0"/>
          </a:p>
        </p:txBody>
      </p:sp>
      <p:sp>
        <p:nvSpPr>
          <p:cNvPr id="12" name="Text 9"/>
          <p:cNvSpPr/>
          <p:nvPr/>
        </p:nvSpPr>
        <p:spPr>
          <a:xfrm>
            <a:off x="609600" y="4105061"/>
            <a:ext cx="4459563" cy="34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3C9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Kultura renesansu w Europie</a:t>
            </a:r>
            <a:endParaRPr lang="en-US" sz="2025" dirty="0"/>
          </a:p>
        </p:txBody>
      </p:sp>
      <p:sp>
        <p:nvSpPr>
          <p:cNvPr id="13" name="Text 10"/>
          <p:cNvSpPr/>
          <p:nvPr/>
        </p:nvSpPr>
        <p:spPr>
          <a:xfrm>
            <a:off x="866775" y="4696355"/>
            <a:ext cx="5007102" cy="34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FF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 się zmienia, gdy człowiek staje się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866775" y="5035683"/>
            <a:ext cx="3530727" cy="34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FF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miarą poznawania świata?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7280821" y="6467856"/>
            <a:ext cx="417842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Rafael Santi, „Szkoła Ateńska”, 1509–1511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45655" y="4075808"/>
            <a:ext cx="9182100" cy="952500"/>
          </a:xfrm>
          <a:prstGeom prst="rect">
            <a:avLst/>
          </a:prstGeom>
          <a:solidFill>
            <a:srgbClr val="102A43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09956"/>
            <a:ext cx="4762429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Odrodzenie czego?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95350" y="1533013"/>
            <a:ext cx="1111377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D94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XIV w.</a:t>
            </a:r>
            <a:endParaRPr lang="en-US" sz="2325" dirty="0"/>
          </a:p>
        </p:txBody>
      </p:sp>
      <p:sp>
        <p:nvSpPr>
          <p:cNvPr id="5" name="Text 3"/>
          <p:cNvSpPr/>
          <p:nvPr/>
        </p:nvSpPr>
        <p:spPr>
          <a:xfrm>
            <a:off x="4552950" y="1533013"/>
            <a:ext cx="968502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906A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XV w.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8210550" y="1533013"/>
            <a:ext cx="1111377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4F7C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XVI w.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895350" y="2612166"/>
            <a:ext cx="2568702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miasta włoskie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4552950" y="2612166"/>
            <a:ext cx="3025902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nowy język sztuki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8210550" y="2612166"/>
            <a:ext cx="1235202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Europa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895350" y="3081719"/>
            <a:ext cx="310210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bogactwo, mecenat, ślady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52950" y="3081719"/>
            <a:ext cx="285445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perspektywa, proporcje,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10550" y="3081719"/>
            <a:ext cx="250202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idee, książki i artyści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5350" y="3367469"/>
            <a:ext cx="8446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antyku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2950" y="3367469"/>
            <a:ext cx="220675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obserwacja natury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10550" y="3367469"/>
            <a:ext cx="24829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przekraczają granice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88555" y="4247638"/>
            <a:ext cx="3130677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Renesans / odrodzenie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5622280" y="4247638"/>
            <a:ext cx="5111877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świadomy powrót do kultury antycznej i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2488555" y="4552438"/>
            <a:ext cx="6607302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nowe sposoby przedstawiania oraz poznawania świata.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161407"/>
            <a:ext cx="5077718" cy="1676401"/>
          </a:xfrm>
          <a:prstGeom prst="rect">
            <a:avLst/>
          </a:prstGeom>
          <a:solidFill>
            <a:srgbClr val="FFFFFF">
              <a:alpha val="8000"/>
            </a:srgbClr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1332607"/>
            <a:ext cx="5077718" cy="1676400"/>
          </a:xfrm>
          <a:prstGeom prst="rect">
            <a:avLst/>
          </a:prstGeom>
          <a:solidFill>
            <a:srgbClr val="FFFFFF">
              <a:alpha val="8000"/>
            </a:srgbClr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96868" y="3161407"/>
            <a:ext cx="3761482" cy="1676401"/>
          </a:xfrm>
          <a:prstGeom prst="rect">
            <a:avLst/>
          </a:prstGeom>
          <a:solidFill>
            <a:srgbClr val="FFFFFF">
              <a:alpha val="8000"/>
            </a:srgbClr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6868" y="1332607"/>
            <a:ext cx="3761482" cy="1676400"/>
          </a:xfrm>
          <a:prstGeom prst="rect">
            <a:avLst/>
          </a:prstGeom>
          <a:solidFill>
            <a:srgbClr val="FFFFFF">
              <a:alpha val="8000"/>
            </a:srgbClr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48575" y="5053310"/>
            <a:ext cx="3895725" cy="1214140"/>
          </a:xfrm>
          <a:prstGeom prst="rect">
            <a:avLst/>
          </a:prstGeom>
          <a:solidFill>
            <a:srgbClr val="FFFDF8"/>
          </a:solidFill>
          <a:ln w="31750">
            <a:solidFill>
              <a:srgbClr val="D6A8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409956"/>
            <a:ext cx="788320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Człowiek na pierwszym miejscu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93544" y="952881"/>
            <a:ext cx="6257258" cy="1168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D6A8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HUMANIZM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942975" y="1561588"/>
            <a:ext cx="1416177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godność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30243" y="1561588"/>
            <a:ext cx="1501902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edukacja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42975" y="1999738"/>
            <a:ext cx="379742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EF3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człowiek ma wartość i może rozwijać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6230243" y="1999738"/>
            <a:ext cx="272110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EF3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języki, historia, literatura i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942975" y="2249769"/>
            <a:ext cx="100660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EF3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zdolności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230243" y="2249769"/>
            <a:ext cx="265442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EF3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sztuka kształcą człowieka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942975" y="3390388"/>
            <a:ext cx="1073277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rozum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230243" y="3390388"/>
            <a:ext cx="1501902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działanie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42975" y="3828538"/>
            <a:ext cx="374027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EF3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pytania, dyskusja i krytyczna lektura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6230243" y="3828538"/>
            <a:ext cx="248297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EF3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zainteresowanie życiem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942975" y="4078570"/>
            <a:ext cx="854202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EF3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tekstów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6230243" y="4078570"/>
            <a:ext cx="2359152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EF3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doczesnym i sprawami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6230243" y="4328601"/>
            <a:ext cx="1082802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EF3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wspólnoty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7858125" y="5282291"/>
            <a:ext cx="2968752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Humanizm ≠ odrzucenie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858125" y="5550480"/>
            <a:ext cx="854202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religii.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705850" y="5550480"/>
            <a:ext cx="2502027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Wielu humanistów było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858125" y="5818668"/>
            <a:ext cx="2082927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ludźmi wierzącymi.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7"/>
          </a:solidFill>
          <a:ln w="127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26024" y="1281113"/>
            <a:ext cx="4391323" cy="4999732"/>
          </a:xfrm>
          <a:prstGeom prst="rect">
            <a:avLst/>
          </a:prstGeom>
          <a:solidFill>
            <a:srgbClr val="000000"/>
          </a:solidFill>
          <a:ln w="127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93546" y="1281113"/>
            <a:ext cx="3688705" cy="4999732"/>
          </a:xfrm>
          <a:prstGeom prst="rect">
            <a:avLst/>
          </a:prstGeom>
          <a:solidFill>
            <a:srgbClr val="000000"/>
          </a:solidFill>
          <a:ln w="127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1281113"/>
            <a:ext cx="2740224" cy="4999732"/>
          </a:xfrm>
          <a:prstGeom prst="rect">
            <a:avLst/>
          </a:prstGeom>
          <a:solidFill>
            <a:srgbClr val="000000"/>
          </a:solidFill>
          <a:ln w="127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6024" y="5536109"/>
            <a:ext cx="4391323" cy="744736"/>
          </a:xfrm>
          <a:prstGeom prst="rect">
            <a:avLst/>
          </a:prstGeom>
          <a:solidFill>
            <a:srgbClr val="102A43">
              <a:alpha val="94000"/>
            </a:srgbClr>
          </a:solidFill>
          <a:ln w="19050">
            <a:solidFill>
              <a:srgbClr val="D6A8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93546" y="5536109"/>
            <a:ext cx="3688705" cy="744736"/>
          </a:xfrm>
          <a:prstGeom prst="rect">
            <a:avLst/>
          </a:prstGeom>
          <a:solidFill>
            <a:srgbClr val="102A43">
              <a:alpha val="94000"/>
            </a:srgbClr>
          </a:solidFill>
          <a:ln w="19050">
            <a:solidFill>
              <a:srgbClr val="D6A8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5311379"/>
            <a:ext cx="2740224" cy="969466"/>
          </a:xfrm>
          <a:prstGeom prst="rect">
            <a:avLst/>
          </a:prstGeom>
          <a:solidFill>
            <a:srgbClr val="102A43">
              <a:alpha val="94000"/>
            </a:srgbClr>
          </a:solidFill>
          <a:ln w="19050">
            <a:solidFill>
              <a:srgbClr val="D6A83C"/>
            </a:solidFill>
            <a:prstDash val="solid"/>
          </a:ln>
        </p:spPr>
      </p:sp>
      <p:pic>
        <p:nvPicPr>
          <p:cNvPr id="9" name="Image 0" descr="Mona Lisa Leonarda da Vinci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471613"/>
            <a:ext cx="2603153" cy="4905375"/>
          </a:xfrm>
          <a:prstGeom prst="rect">
            <a:avLst/>
          </a:prstGeom>
        </p:spPr>
      </p:pic>
      <p:pic>
        <p:nvPicPr>
          <p:cNvPr id="10" name="Image 1" descr="Stworzenie Adama Michała Anioła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26024" y="1471613"/>
            <a:ext cx="4171652" cy="4905375"/>
          </a:xfrm>
          <a:prstGeom prst="rect">
            <a:avLst/>
          </a:prstGeom>
        </p:spPr>
      </p:pic>
      <p:pic>
        <p:nvPicPr>
          <p:cNvPr id="11" name="Image 2" descr="Szkoła Ateńska Rafaela Santi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893546" y="1471613"/>
            <a:ext cx="3504158" cy="49053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6300" y="409956"/>
            <a:ext cx="8412289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Trzy dzieła — wspólny język epoki</a:t>
            </a:r>
            <a:endParaRPr lang="en-US" sz="3600" dirty="0"/>
          </a:p>
        </p:txBody>
      </p:sp>
      <p:sp>
        <p:nvSpPr>
          <p:cNvPr id="13" name="Text 8"/>
          <p:cNvSpPr/>
          <p:nvPr/>
        </p:nvSpPr>
        <p:spPr>
          <a:xfrm>
            <a:off x="762000" y="5454634"/>
            <a:ext cx="109232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Leonardo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62000" y="5679365"/>
            <a:ext cx="189242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„Mona Lisa”, ok.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578423" y="5679365"/>
            <a:ext cx="138760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Michał Anioł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045947" y="5679365"/>
            <a:ext cx="76847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Rafael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62000" y="5904095"/>
            <a:ext cx="123520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1503–1519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578423" y="5904095"/>
            <a:ext cx="341642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„Stworzenie Adama”, ok. 1511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045947" y="5904095"/>
            <a:ext cx="326402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„Szkoła Ateńska”, 1509–1511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4B32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727127"/>
            <a:ext cx="10972800" cy="2618482"/>
          </a:xfrm>
          <a:prstGeom prst="rect">
            <a:avLst/>
          </a:prstGeom>
          <a:solidFill>
            <a:srgbClr val="FFFDF8"/>
          </a:solidFill>
          <a:ln w="127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1464999"/>
            <a:ext cx="6803755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Zobacz cechy renesansu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419350" y="3013258"/>
            <a:ext cx="5683377" cy="37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4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Pracuj z osobą obok. Macie 3 minuty.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028950" y="3555290"/>
            <a:ext cx="5635752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Wybierzcie jedno dzieło z poprzedniego slajdu.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3028950" y="3962483"/>
            <a:ext cx="4940427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Wskażcie dwa widoczne elementy z listy: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7972425" y="3962483"/>
            <a:ext cx="2444877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i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realizm • człowiek •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3028950" y="4255377"/>
            <a:ext cx="5102351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i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emocje • perspektywa • antyk • proporcje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8058149" y="4255377"/>
            <a:ext cx="149353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3028950" y="4662571"/>
            <a:ext cx="8140827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Przygotujcie jedno zdanie: „To dzieło jest renesansowe, ponieważ…”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294507"/>
            <a:ext cx="10972800" cy="443865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1323082"/>
            <a:ext cx="3840361" cy="4381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49961" y="1151632"/>
            <a:ext cx="3291929" cy="4381500"/>
          </a:xfrm>
          <a:prstGeom prst="rect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409956"/>
            <a:ext cx="5120063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Artyści i ich ambicje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716661" y="1399663"/>
            <a:ext cx="2425827" cy="46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Michał Anioł</a:t>
            </a:r>
            <a:endParaRPr lang="en-US" sz="2625" dirty="0"/>
          </a:p>
        </p:txBody>
      </p:sp>
      <p:sp>
        <p:nvSpPr>
          <p:cNvPr id="7" name="Text 5"/>
          <p:cNvSpPr/>
          <p:nvPr/>
        </p:nvSpPr>
        <p:spPr>
          <a:xfrm>
            <a:off x="876300" y="1571113"/>
            <a:ext cx="2378202" cy="46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25" b="1" dirty="0">
                <a:solidFill>
                  <a:srgbClr val="A85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Leonardo da</a:t>
            </a:r>
            <a:endParaRPr lang="en-US" sz="2625" dirty="0"/>
          </a:p>
        </p:txBody>
      </p:sp>
      <p:sp>
        <p:nvSpPr>
          <p:cNvPr id="8" name="Text 6"/>
          <p:cNvSpPr/>
          <p:nvPr/>
        </p:nvSpPr>
        <p:spPr>
          <a:xfrm>
            <a:off x="8008590" y="1571113"/>
            <a:ext cx="2359152" cy="46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25" b="1" dirty="0">
                <a:solidFill>
                  <a:srgbClr val="A85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Rafael Santi</a:t>
            </a:r>
            <a:endParaRPr lang="en-US" sz="2625" dirty="0"/>
          </a:p>
        </p:txBody>
      </p:sp>
      <p:sp>
        <p:nvSpPr>
          <p:cNvPr id="9" name="Text 7"/>
          <p:cNvSpPr/>
          <p:nvPr/>
        </p:nvSpPr>
        <p:spPr>
          <a:xfrm>
            <a:off x="876300" y="1921157"/>
            <a:ext cx="1006602" cy="46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25" b="1" dirty="0">
                <a:solidFill>
                  <a:srgbClr val="A85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Vinci</a:t>
            </a:r>
            <a:endParaRPr lang="en-US" sz="2625" dirty="0"/>
          </a:p>
        </p:txBody>
      </p:sp>
      <p:sp>
        <p:nvSpPr>
          <p:cNvPr id="10" name="Text 8"/>
          <p:cNvSpPr/>
          <p:nvPr/>
        </p:nvSpPr>
        <p:spPr>
          <a:xfrm>
            <a:off x="4716661" y="2228338"/>
            <a:ext cx="140665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D6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1475–1564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876300" y="2399788"/>
            <a:ext cx="140665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D94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1452–1519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8008590" y="2399788"/>
            <a:ext cx="140665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D94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1483–1520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4716661" y="2846421"/>
            <a:ext cx="228295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Rzeźbiarz, malarz 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6300" y="3017871"/>
            <a:ext cx="245440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Malarz, konstruktor 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08590" y="3017871"/>
            <a:ext cx="24829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Malarz harmonijnych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16661" y="3143482"/>
            <a:ext cx="224485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architekt. „Dawid”,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6300" y="3314932"/>
            <a:ext cx="251155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badacz. „Mona Lisa”,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08590" y="3314932"/>
            <a:ext cx="23686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kompozycji. „Szkoła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16661" y="3440543"/>
            <a:ext cx="21781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„Pietà”, sklepienie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6300" y="3611993"/>
            <a:ext cx="25972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„Ostatnia Wieczerza”,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08590" y="3611993"/>
            <a:ext cx="314972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Ateńska” łączy antycznych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16661" y="3737604"/>
            <a:ext cx="24829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Kaplicy Sykstyńskiej.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6300" y="3909054"/>
            <a:ext cx="253060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notatniki o anatomii i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08590" y="3909054"/>
            <a:ext cx="287350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filozofów i perspektywę.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76300" y="4206115"/>
            <a:ext cx="139712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mechanice.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DFD0"/>
          </a:solidFill>
          <a:ln w="127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1042" y="1281113"/>
            <a:ext cx="6101358" cy="5154811"/>
          </a:xfrm>
          <a:prstGeom prst="rect">
            <a:avLst/>
          </a:prstGeom>
          <a:solidFill>
            <a:srgbClr val="FFFFFF"/>
          </a:solidFill>
          <a:ln w="127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2083891"/>
            <a:ext cx="4509493" cy="3549104"/>
          </a:xfrm>
          <a:prstGeom prst="rect">
            <a:avLst/>
          </a:prstGeom>
          <a:solidFill>
            <a:srgbClr val="FFFDF8"/>
          </a:solidFill>
          <a:ln w="63500">
            <a:solidFill>
              <a:srgbClr val="102A43"/>
            </a:solidFill>
            <a:prstDash val="solid"/>
          </a:ln>
        </p:spPr>
      </p:sp>
      <p:pic>
        <p:nvPicPr>
          <p:cNvPr id="5" name="Image 0" descr="Rysunki serca i naczyń krwionośnych w notatniku Leonarda da Vinci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95342" y="1585913"/>
            <a:ext cx="5579120" cy="4095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" y="409956"/>
            <a:ext cx="933874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Leonardo: sztuka spotyka obserwację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66800" y="2379547"/>
            <a:ext cx="2416302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Rysunek był dla</a:t>
            </a:r>
            <a:endParaRPr lang="en-US" sz="2325" dirty="0"/>
          </a:p>
        </p:txBody>
      </p:sp>
      <p:sp>
        <p:nvSpPr>
          <p:cNvPr id="8" name="Text 5"/>
          <p:cNvSpPr/>
          <p:nvPr/>
        </p:nvSpPr>
        <p:spPr>
          <a:xfrm>
            <a:off x="1066800" y="2727954"/>
            <a:ext cx="3264027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Leonarda narzędziem</a:t>
            </a:r>
            <a:endParaRPr lang="en-US" sz="2325" dirty="0"/>
          </a:p>
        </p:txBody>
      </p:sp>
      <p:sp>
        <p:nvSpPr>
          <p:cNvPr id="9" name="Text 6"/>
          <p:cNvSpPr/>
          <p:nvPr/>
        </p:nvSpPr>
        <p:spPr>
          <a:xfrm>
            <a:off x="1066800" y="3076361"/>
            <a:ext cx="3206877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myślenia i badania</a:t>
            </a:r>
            <a:endParaRPr lang="en-US" sz="2325" dirty="0"/>
          </a:p>
        </p:txBody>
      </p:sp>
      <p:sp>
        <p:nvSpPr>
          <p:cNvPr id="10" name="Text 7"/>
          <p:cNvSpPr/>
          <p:nvPr/>
        </p:nvSpPr>
        <p:spPr>
          <a:xfrm>
            <a:off x="4200525" y="3076361"/>
            <a:ext cx="168402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325" dirty="0"/>
          </a:p>
        </p:txBody>
      </p:sp>
      <p:sp>
        <p:nvSpPr>
          <p:cNvPr id="11" name="Text 8"/>
          <p:cNvSpPr/>
          <p:nvPr/>
        </p:nvSpPr>
        <p:spPr>
          <a:xfrm>
            <a:off x="1790700" y="3758143"/>
            <a:ext cx="308305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studiował ciało człowieka;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790700" y="4184089"/>
            <a:ext cx="306400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notował pomysły maszyn;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790700" y="4610035"/>
            <a:ext cx="250202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łączył doświadczenie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790700" y="4902631"/>
            <a:ext cx="262585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artysty i konstruktora.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595342" y="5853494"/>
            <a:ext cx="5845301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2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Leonardo da Vinci, studia serca i naczyń, domena publiczna,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595342" y="6078224"/>
            <a:ext cx="214007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2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Wikimedia Commons.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807964"/>
            <a:ext cx="8477250" cy="2747218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09956"/>
            <a:ext cx="5814197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Erazm z Rotterdamu —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885313"/>
            <a:ext cx="4637413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humanista Europy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466850" y="2170295"/>
            <a:ext cx="186385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D6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ok. 1466–1536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1466850" y="2635085"/>
            <a:ext cx="7222409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Teksty trzeba czytać uważnie. Ludzi — kształcić.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466850" y="3257187"/>
            <a:ext cx="5950077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7ED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Uczony podróżował po Europie, porównywał rękopisy,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466850" y="3537579"/>
            <a:ext cx="695020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7ED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przygotował greckie wydanie Nowego Testamentu i krytykował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466850" y="3817971"/>
            <a:ext cx="3740277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7ED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nadużycia w „Pochwale głupoty”.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428750" y="4765113"/>
            <a:ext cx="7245478" cy="292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Jak edukacja i krytyczna lektura łączą się z humanizmem?</a:t>
            </a:r>
            <a:endParaRPr lang="en-US" sz="17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827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1199257"/>
            <a:ext cx="5210175" cy="3933825"/>
          </a:xfrm>
          <a:prstGeom prst="rect">
            <a:avLst/>
          </a:prstGeom>
          <a:solidFill>
            <a:srgbClr val="FFFFFF">
              <a:alpha val="4000"/>
            </a:srgbClr>
          </a:solidFill>
          <a:ln w="50800">
            <a:solidFill>
              <a:srgbClr val="D6A8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72225" y="1199257"/>
            <a:ext cx="5210175" cy="3933825"/>
          </a:xfrm>
          <a:prstGeom prst="rect">
            <a:avLst/>
          </a:prstGeom>
          <a:solidFill>
            <a:srgbClr val="FFFFFF">
              <a:alpha val="4000"/>
            </a:srgbClr>
          </a:solidFill>
          <a:ln w="50800">
            <a:solidFill>
              <a:srgbClr val="4F7C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1562" y="5342632"/>
            <a:ext cx="10048875" cy="778669"/>
          </a:xfrm>
          <a:prstGeom prst="rect">
            <a:avLst/>
          </a:prstGeom>
          <a:solidFill>
            <a:srgbClr val="F4EBDD"/>
          </a:solidFill>
          <a:ln w="44450">
            <a:solidFill>
              <a:srgbClr val="102A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65266" y="3856092"/>
            <a:ext cx="1461168" cy="1182381"/>
          </a:xfrm>
          <a:prstGeom prst="round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D6A8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25076" y="4228207"/>
            <a:ext cx="495299" cy="495300"/>
          </a:xfrm>
          <a:prstGeom prst="roundRect">
            <a:avLst/>
          </a:prstGeom>
          <a:solidFill>
            <a:srgbClr val="D5C29A"/>
          </a:solidFill>
          <a:ln w="19050">
            <a:solidFill>
              <a:srgbClr val="D6A8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5778" y="4278409"/>
            <a:ext cx="305025" cy="305025"/>
          </a:xfrm>
          <a:prstGeom prst="roundRect">
            <a:avLst/>
          </a:prstGeom>
          <a:solidFill>
            <a:srgbClr val="D6A83C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18710" y="4144330"/>
            <a:ext cx="271133" cy="271133"/>
          </a:xfrm>
          <a:prstGeom prst="roundRect">
            <a:avLst/>
          </a:prstGeom>
          <a:solidFill>
            <a:srgbClr val="4F7CA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06100" y="4409183"/>
            <a:ext cx="133350" cy="133349"/>
          </a:xfrm>
          <a:prstGeom prst="roundRect">
            <a:avLst/>
          </a:prstGeom>
          <a:solidFill>
            <a:srgbClr val="4F7CA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8826" y="4409183"/>
            <a:ext cx="133349" cy="133349"/>
          </a:xfrm>
          <a:prstGeom prst="roundRect">
            <a:avLst/>
          </a:prstGeom>
          <a:solidFill>
            <a:srgbClr val="4F7CA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86951" y="4423470"/>
            <a:ext cx="104775" cy="104776"/>
          </a:xfrm>
          <a:prstGeom prst="roundRect">
            <a:avLst/>
          </a:prstGeom>
          <a:solidFill>
            <a:srgbClr val="D6A8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44225" y="4423470"/>
            <a:ext cx="104775" cy="104776"/>
          </a:xfrm>
          <a:prstGeom prst="roundRect">
            <a:avLst/>
          </a:prstGeom>
          <a:solidFill>
            <a:srgbClr val="D6A8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" y="409956"/>
            <a:ext cx="5306693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Nowy obraz kosmosu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04875" y="1533013"/>
            <a:ext cx="1320927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6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1473–1543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667500" y="1533013"/>
            <a:ext cx="1320926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9CC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1564–1642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04875" y="1938718"/>
            <a:ext cx="2583287" cy="4158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Mikołaj Kopernik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6667500" y="1938718"/>
            <a:ext cx="1350543" cy="4158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Galileusz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04875" y="2531055"/>
            <a:ext cx="3873627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2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Przedstawił heliocentryczny model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6667500" y="2531055"/>
            <a:ext cx="3473577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2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Udoskonalił użycie teleskopu w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904875" y="2804898"/>
            <a:ext cx="3587877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2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świata w dziele „O obrotach sfer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6667500" y="2804898"/>
            <a:ext cx="327355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2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astronomii; obserwował m.in.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904875" y="3078742"/>
            <a:ext cx="2292477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2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niebieskich” (1543).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6667500" y="3078742"/>
            <a:ext cx="3397377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2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księżyce Jowisza i fazy Wenus.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366838" y="5476363"/>
            <a:ext cx="9417177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Galileusz działał już na przełomie renesansu i rewolucji naukowej. Jego obserwacje wspierały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1366838" y="5732348"/>
            <a:ext cx="2235327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nowy obraz kosmosu.</a:t>
            </a:r>
            <a:endParaRPr lang="en-US" sz="15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1284" y="1636514"/>
            <a:ext cx="4881116" cy="5126236"/>
          </a:xfrm>
          <a:prstGeom prst="rect">
            <a:avLst/>
          </a:prstGeom>
          <a:solidFill>
            <a:srgbClr val="FFFFFF"/>
          </a:solidFill>
          <a:ln w="127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5186214"/>
            <a:ext cx="5729734" cy="652463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2560439"/>
            <a:ext cx="5729734" cy="652463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3435698"/>
            <a:ext cx="5729734" cy="65246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4310956"/>
            <a:ext cx="5729734" cy="65246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7" name="Image 0" descr="Strona Biblii Gutenberg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25109" y="1950839"/>
            <a:ext cx="4401740" cy="4048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9600" y="409956"/>
            <a:ext cx="942447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Gutenberg: książka w wielu zgodnych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09600" y="885313"/>
            <a:ext cx="203485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kopiach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1314450" y="2722745"/>
            <a:ext cx="3902202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ruchoma metalowa czcionka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3388668" y="3194233"/>
            <a:ext cx="244602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D6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314450" y="3598003"/>
            <a:ext cx="3244977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prasa i farba drukarska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388668" y="4069491"/>
            <a:ext cx="244602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D6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314450" y="4473262"/>
            <a:ext cx="2683002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szybsze powielanie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3388668" y="4944750"/>
            <a:ext cx="244602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D6A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314450" y="5348520"/>
            <a:ext cx="2930652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szerszy obieg wiedzy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6825109" y="6170795"/>
            <a:ext cx="391172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2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Strona Biblii Gutenberga, lata 50. XV w.,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825109" y="6395525"/>
            <a:ext cx="401650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2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domena publiczna, Wikimedia Commons.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44418" y="1281113"/>
            <a:ext cx="6237982" cy="4878586"/>
          </a:xfrm>
          <a:prstGeom prst="rect">
            <a:avLst/>
          </a:prstGeom>
          <a:solidFill>
            <a:srgbClr val="000000">
              <a:alpha val="0"/>
            </a:srgbClr>
          </a:solidFill>
          <a:ln w="3175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4720382"/>
            <a:ext cx="4334768" cy="999977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2720429"/>
            <a:ext cx="4334768" cy="999976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1720453"/>
            <a:ext cx="4334768" cy="999976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3720406"/>
            <a:ext cx="4334768" cy="999976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7" name="Image 0" descr="Tempietto Bramantego w Rzymi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63493" y="1471613"/>
            <a:ext cx="5717828" cy="4048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9600" y="409956"/>
            <a:ext cx="10231118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Architektura: porządek, proporcja, antyk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143000" y="1882759"/>
            <a:ext cx="1444752" cy="3821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symetria</a:t>
            </a:r>
            <a:endParaRPr lang="en-US" sz="2175" dirty="0"/>
          </a:p>
        </p:txBody>
      </p:sp>
      <p:sp>
        <p:nvSpPr>
          <p:cNvPr id="10" name="Text 7"/>
          <p:cNvSpPr/>
          <p:nvPr/>
        </p:nvSpPr>
        <p:spPr>
          <a:xfrm>
            <a:off x="1143000" y="2279833"/>
            <a:ext cx="309257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czytelny, uporządkowany plan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143000" y="2882735"/>
            <a:ext cx="1130427" cy="3821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kopuła</a:t>
            </a:r>
            <a:endParaRPr lang="en-US" sz="2175" dirty="0"/>
          </a:p>
        </p:txBody>
      </p:sp>
      <p:sp>
        <p:nvSpPr>
          <p:cNvPr id="12" name="Text 9"/>
          <p:cNvSpPr/>
          <p:nvPr/>
        </p:nvSpPr>
        <p:spPr>
          <a:xfrm>
            <a:off x="1143000" y="3279809"/>
            <a:ext cx="284492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technika i monumentalność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143000" y="3882712"/>
            <a:ext cx="2759202" cy="3821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kolumny i arkady</a:t>
            </a:r>
            <a:endParaRPr lang="en-US" sz="2175" dirty="0"/>
          </a:p>
        </p:txBody>
      </p:sp>
      <p:sp>
        <p:nvSpPr>
          <p:cNvPr id="14" name="Text 11"/>
          <p:cNvSpPr/>
          <p:nvPr/>
        </p:nvSpPr>
        <p:spPr>
          <a:xfrm>
            <a:off x="1143000" y="4279785"/>
            <a:ext cx="3035427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nawiązanie do Grecji i Rzymu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143000" y="4882687"/>
            <a:ext cx="1568577" cy="3821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proporcje</a:t>
            </a:r>
            <a:endParaRPr lang="en-US" sz="2175" dirty="0"/>
          </a:p>
        </p:txBody>
      </p:sp>
      <p:sp>
        <p:nvSpPr>
          <p:cNvPr id="16" name="Text 13"/>
          <p:cNvSpPr/>
          <p:nvPr/>
        </p:nvSpPr>
        <p:spPr>
          <a:xfrm>
            <a:off x="1143000" y="5279761"/>
            <a:ext cx="259727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harmonia części i całości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5563493" y="5691568"/>
            <a:ext cx="587387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2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Tempietto Bramantego, pocz. XVI w. Fotografia CC BY‑SA 4.0,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563493" y="5916299"/>
            <a:ext cx="214007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2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Wikimedia Commons.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290762" y="6147876"/>
            <a:ext cx="768362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F62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Zabytki: kopuła katedry we Florencji • Tempietto w Rzymie • bazylika św. Piotra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24100" y="5698480"/>
            <a:ext cx="9258300" cy="515839"/>
          </a:xfrm>
          <a:prstGeom prst="rect">
            <a:avLst/>
          </a:prstGeom>
          <a:solidFill>
            <a:srgbClr val="102A43"/>
          </a:solidFill>
          <a:ln w="444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38975" y="1932384"/>
            <a:ext cx="2185988" cy="1514475"/>
          </a:xfrm>
          <a:prstGeom prst="rect">
            <a:avLst/>
          </a:prstGeom>
          <a:solidFill>
            <a:srgbClr val="FFFFFF">
              <a:alpha val="45000"/>
            </a:srgbClr>
          </a:solidFill>
          <a:ln w="31750">
            <a:solidFill>
              <a:srgbClr val="D6A8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81538" y="3713559"/>
            <a:ext cx="2185987" cy="1514475"/>
          </a:xfrm>
          <a:prstGeom prst="rect">
            <a:avLst/>
          </a:prstGeom>
          <a:solidFill>
            <a:srgbClr val="FFFFFF">
              <a:alpha val="45000"/>
            </a:srgbClr>
          </a:solidFill>
          <a:ln w="31750">
            <a:solidFill>
              <a:srgbClr val="D6A8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24100" y="1932384"/>
            <a:ext cx="2185987" cy="1514475"/>
          </a:xfrm>
          <a:prstGeom prst="rect">
            <a:avLst/>
          </a:prstGeom>
          <a:solidFill>
            <a:srgbClr val="FFFFFF">
              <a:alpha val="45000"/>
            </a:srgbClr>
          </a:solidFill>
          <a:ln w="31750">
            <a:solidFill>
              <a:srgbClr val="102A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96413" y="2084785"/>
            <a:ext cx="2185988" cy="1514475"/>
          </a:xfrm>
          <a:prstGeom prst="rect">
            <a:avLst/>
          </a:prstGeom>
          <a:solidFill>
            <a:srgbClr val="FFFFFF">
              <a:alpha val="45000"/>
            </a:srgbClr>
          </a:solidFill>
          <a:ln w="31750">
            <a:solidFill>
              <a:srgbClr val="D94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38975" y="3561160"/>
            <a:ext cx="2185988" cy="1514475"/>
          </a:xfrm>
          <a:prstGeom prst="rect">
            <a:avLst/>
          </a:prstGeom>
          <a:solidFill>
            <a:srgbClr val="FFFFFF">
              <a:alpha val="45000"/>
            </a:srgbClr>
          </a:solidFill>
          <a:ln w="31750">
            <a:solidFill>
              <a:srgbClr val="102A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81538" y="2084785"/>
            <a:ext cx="2185987" cy="1514475"/>
          </a:xfrm>
          <a:prstGeom prst="rect">
            <a:avLst/>
          </a:prstGeom>
          <a:solidFill>
            <a:srgbClr val="FFFFFF">
              <a:alpha val="45000"/>
            </a:srgbClr>
          </a:solidFill>
          <a:ln w="31750">
            <a:solidFill>
              <a:srgbClr val="D94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24100" y="3561160"/>
            <a:ext cx="2185987" cy="1514475"/>
          </a:xfrm>
          <a:prstGeom prst="rect">
            <a:avLst/>
          </a:prstGeom>
          <a:solidFill>
            <a:srgbClr val="FFFFFF">
              <a:alpha val="45000"/>
            </a:srgbClr>
          </a:solidFill>
          <a:ln w="31750">
            <a:solidFill>
              <a:srgbClr val="102A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0" y="596438"/>
            <a:ext cx="827507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Siedem postaci — siedem tropów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95550" y="2151840"/>
            <a:ext cx="12637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Leonardo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10425" y="2151840"/>
            <a:ext cx="873251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Rafael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52988" y="2304240"/>
            <a:ext cx="16447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Michał Anioł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67862" y="2304240"/>
            <a:ext cx="86372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Erazm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95550" y="2544151"/>
            <a:ext cx="113995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2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obserwacja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10425" y="2544151"/>
            <a:ext cx="73037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2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antyk 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52988" y="2696551"/>
            <a:ext cx="63512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2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ciało 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567862" y="2696551"/>
            <a:ext cx="105422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2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edukacja 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10425" y="2791801"/>
            <a:ext cx="129235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2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perspektywa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52988" y="2944201"/>
            <a:ext cx="172097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2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monumentalność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67862" y="2944201"/>
            <a:ext cx="1749553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2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krytyczna lektura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495550" y="3780615"/>
            <a:ext cx="12256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Kopernik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10425" y="3780615"/>
            <a:ext cx="143522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Gutenberg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52988" y="3933016"/>
            <a:ext cx="12256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5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Galileusz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495550" y="4172927"/>
            <a:ext cx="143522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2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heliocentryzm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10425" y="4172927"/>
            <a:ext cx="151142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2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druk w Europie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52988" y="4325326"/>
            <a:ext cx="113995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2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obserwacja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52988" y="4572977"/>
            <a:ext cx="1254252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2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teleskopowa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562225" y="5822686"/>
            <a:ext cx="5473826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Zakryj tropy i spróbuj odtworzyć osiągnięcia.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4B32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84946"/>
            <a:ext cx="10972800" cy="2911376"/>
          </a:xfrm>
          <a:prstGeom prst="rect">
            <a:avLst/>
          </a:prstGeom>
          <a:solidFill>
            <a:srgbClr val="FFFDF8"/>
          </a:solidFill>
          <a:ln w="127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922818"/>
            <a:ext cx="8529417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Zostańcie kuratorami wystawy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419350" y="2471077"/>
            <a:ext cx="3035427" cy="37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4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Sześć par • 8 minut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028950" y="3013109"/>
            <a:ext cx="7940802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Wybierzcie trzy obiekty lub postaci do wystawy „Człowiek poznaje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3028950" y="3306003"/>
            <a:ext cx="1806702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siebie i świat”.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3028950" y="3713196"/>
            <a:ext cx="6035802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Przy każdym zapiszcie jedno zdanie uzasadnienia.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3028950" y="4120390"/>
            <a:ext cx="7740778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 najmniej jeden wybór ma dotyczyć sztuki, a jeden wiedzy lub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3028950" y="4413284"/>
            <a:ext cx="825627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druku.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381125" y="5595723"/>
            <a:ext cx="950290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Gotowe: trzy wybory + trzy argumenty + jedno zdanie o znaczeniu druku.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14450" y="5133529"/>
            <a:ext cx="9563100" cy="933450"/>
          </a:xfrm>
          <a:prstGeom prst="rect">
            <a:avLst/>
          </a:prstGeom>
          <a:solidFill>
            <a:srgbClr val="D6A83C"/>
          </a:solidFill>
          <a:ln w="127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1895028"/>
            <a:ext cx="2721769" cy="2714625"/>
          </a:xfrm>
          <a:prstGeom prst="rect">
            <a:avLst/>
          </a:prstGeom>
          <a:solidFill>
            <a:srgbClr val="FFFFFF">
              <a:alpha val="7000"/>
            </a:srgbClr>
          </a:solidFill>
          <a:ln w="57150">
            <a:solidFill>
              <a:srgbClr val="D94B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10288" y="1895028"/>
            <a:ext cx="2721769" cy="2714625"/>
          </a:xfrm>
          <a:prstGeom prst="rect">
            <a:avLst/>
          </a:prstGeom>
          <a:solidFill>
            <a:srgbClr val="FFFFFF">
              <a:alpha val="7000"/>
            </a:srgbClr>
          </a:solidFill>
          <a:ln w="57150">
            <a:solidFill>
              <a:srgbClr val="4F7C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0631" y="1895028"/>
            <a:ext cx="2721769" cy="2714625"/>
          </a:xfrm>
          <a:prstGeom prst="rect">
            <a:avLst/>
          </a:prstGeom>
          <a:solidFill>
            <a:srgbClr val="FFFFFF">
              <a:alpha val="7000"/>
            </a:srgbClr>
          </a:solidFill>
          <a:ln w="571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59944" y="1895028"/>
            <a:ext cx="2721769" cy="2714625"/>
          </a:xfrm>
          <a:prstGeom prst="rect">
            <a:avLst/>
          </a:prstGeom>
          <a:solidFill>
            <a:srgbClr val="FFFFFF">
              <a:alpha val="7000"/>
            </a:srgbClr>
          </a:solidFill>
          <a:ln w="57150">
            <a:solidFill>
              <a:srgbClr val="D6A8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743778"/>
            <a:ext cx="7462766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Jak renesans zmienił Europę?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38200" y="2257360"/>
            <a:ext cx="1511427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człowiek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3588544" y="2257360"/>
            <a:ext cx="997077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obraz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6338888" y="2257360"/>
            <a:ext cx="1235202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wiedza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9089232" y="2257360"/>
            <a:ext cx="1720977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obieg idei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838200" y="2803112"/>
            <a:ext cx="2101977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FE9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godność, zdolności,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588544" y="2803112"/>
            <a:ext cx="911352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FE9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realizm,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38888" y="2803112"/>
            <a:ext cx="2063877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FE9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lektura, obliczenia,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089232" y="2803112"/>
            <a:ext cx="1406652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FE9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druk i więcej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38200" y="3065050"/>
            <a:ext cx="1016127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FE9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edukacja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588544" y="3065050"/>
            <a:ext cx="1492377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FE9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perspektywa,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338888" y="3065050"/>
            <a:ext cx="1244727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FE9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obserwacja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089232" y="3065050"/>
            <a:ext cx="1635251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FE9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zgodnych kopii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3588544" y="3326987"/>
            <a:ext cx="1063752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FE9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proporcje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089232" y="3326987"/>
            <a:ext cx="739902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FE9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tekstu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566863" y="5295835"/>
            <a:ext cx="9131427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Renesans połączył inspirację antykiem z nowym zainteresowaniem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4524375" y="5600635"/>
            <a:ext cx="3216402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człowiekiem i światem.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A83C"/>
          </a:solidFill>
          <a:ln w="127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52650" y="0"/>
            <a:ext cx="78867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90825" y="3914180"/>
            <a:ext cx="6638925" cy="998042"/>
          </a:xfrm>
          <a:prstGeom prst="rect">
            <a:avLst/>
          </a:prstGeom>
          <a:solidFill>
            <a:srgbClr val="FFFDF8"/>
          </a:solidFill>
          <a:ln w="127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90825" y="2306538"/>
            <a:ext cx="6638925" cy="689521"/>
          </a:xfrm>
          <a:prstGeom prst="rect">
            <a:avLst/>
          </a:prstGeom>
          <a:solidFill>
            <a:srgbClr val="FFFDF8"/>
          </a:solidFill>
          <a:ln w="127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90825" y="3110359"/>
            <a:ext cx="6638925" cy="689521"/>
          </a:xfrm>
          <a:prstGeom prst="rect">
            <a:avLst/>
          </a:prstGeom>
          <a:solidFill>
            <a:srgbClr val="FFFDF8"/>
          </a:solidFill>
          <a:ln w="127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90825" y="941868"/>
            <a:ext cx="3849219" cy="7642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Bilet wyjścia</a:t>
            </a:r>
            <a:endParaRPr lang="en-US" sz="4350" dirty="0"/>
          </a:p>
        </p:txBody>
      </p:sp>
      <p:sp>
        <p:nvSpPr>
          <p:cNvPr id="8" name="Text 6"/>
          <p:cNvSpPr/>
          <p:nvPr/>
        </p:nvSpPr>
        <p:spPr>
          <a:xfrm>
            <a:off x="3571875" y="2487894"/>
            <a:ext cx="4016502" cy="34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Podaj cztery cechy renesansu.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3571875" y="3291715"/>
            <a:ext cx="5273802" cy="34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Połącz dwie postaci z ich osiągnięciami.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3571875" y="4095536"/>
            <a:ext cx="4730877" cy="34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Wyjaśnij w dwóch krokach, jak druk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3571875" y="4404057"/>
            <a:ext cx="4226052" cy="34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pomagał rozpowszechniać idee.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3910012" y="5398377"/>
            <a:ext cx="4473702" cy="292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minuty • odpowiedz samodzielnie</a:t>
            </a:r>
            <a:endParaRPr lang="en-US" sz="1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history-lessons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Renesans — narodziny nowej epoki</dc:title>
  <dc:subject>Edytowalna lekcja historii wyeksportowana z prezentacji HTML</dc:subject>
  <dc:creator>Mateusz</dc:creator>
  <cp:lastModifiedBy>Mateusz</cp:lastModifiedBy>
  <cp:revision>1</cp:revision>
  <dcterms:created xsi:type="dcterms:W3CDTF">2026-09-14T13:33:50Z</dcterms:created>
  <dcterms:modified xsi:type="dcterms:W3CDTF">2026-09-14T13:33:50Z</dcterms:modified>
</cp:coreProperties>
</file>